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MT Bold" charset="1" panose="02030802070405020303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5"/>
    </p:embeddedFont>
    <p:embeddedFont>
      <p:font typeface="Lato Bold" charset="1" panose="020F0502020204030203"/>
      <p:regular r:id="rId16"/>
    </p:embeddedFont>
    <p:embeddedFont>
      <p:font typeface="Lato" charset="1" panose="020F05020202040302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8.png" Type="http://schemas.openxmlformats.org/officeDocument/2006/relationships/image"/><Relationship Id="rId17" Target="../media/image19.png" Type="http://schemas.openxmlformats.org/officeDocument/2006/relationships/image"/><Relationship Id="rId18" Target="../media/image20.png" Type="http://schemas.openxmlformats.org/officeDocument/2006/relationships/image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svg" Type="http://schemas.openxmlformats.org/officeDocument/2006/relationships/image"/><Relationship Id="rId17" Target="../media/image44.png" Type="http://schemas.openxmlformats.org/officeDocument/2006/relationships/image"/><Relationship Id="rId18" Target="../media/image45.svg" Type="http://schemas.openxmlformats.org/officeDocument/2006/relationships/image"/><Relationship Id="rId19" Target="../media/image46.png" Type="http://schemas.openxmlformats.org/officeDocument/2006/relationships/image"/><Relationship Id="rId2" Target="../media/image3.png" Type="http://schemas.openxmlformats.org/officeDocument/2006/relationships/image"/><Relationship Id="rId20" Target="../media/image47.svg" Type="http://schemas.openxmlformats.org/officeDocument/2006/relationships/image"/><Relationship Id="rId21" Target="../media/image48.png" Type="http://schemas.openxmlformats.org/officeDocument/2006/relationships/image"/><Relationship Id="rId22" Target="../media/image49.svg" Type="http://schemas.openxmlformats.org/officeDocument/2006/relationships/image"/><Relationship Id="rId3" Target="../media/image5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50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5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https://doi.org/10.1080/23308249.2024.2423189" TargetMode="External" Type="http://schemas.openxmlformats.org/officeDocument/2006/relationships/hyperlink"/><Relationship Id="rId5" Target="https://pmc.ncbi.nlm.nih.gov/articles/PMC11381547/" TargetMode="External" Type="http://schemas.openxmlformats.org/officeDocument/2006/relationships/hyperlink"/><Relationship Id="rId6" Target="https://doi.org/10.1002/edn3.483" TargetMode="External" Type="http://schemas.openxmlformats.org/officeDocument/2006/relationships/hyperlink"/><Relationship Id="rId7" Target="https://www.mdpi.com/2410-3888/7/3/121" TargetMode="External" Type="http://schemas.openxmlformats.org/officeDocument/2006/relationships/hyperlink"/><Relationship Id="rId8" Target="https://doi.org/10.26881/oahs-2024.1.10" TargetMode="External" Type="http://schemas.openxmlformats.org/officeDocument/2006/relationships/hyperlink"/><Relationship Id="rId9" Target="https://www.frontiersin.org/journals/marine-science/articles/10.3389/fmars.2025.1592429/full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70" y="1277282"/>
            <a:ext cx="6957907" cy="7732451"/>
          </a:xfrm>
          <a:custGeom>
            <a:avLst/>
            <a:gdLst/>
            <a:ahLst/>
            <a:cxnLst/>
            <a:rect r="r" b="b" t="t" l="l"/>
            <a:pathLst>
              <a:path h="7732451" w="6957907">
                <a:moveTo>
                  <a:pt x="0" y="0"/>
                </a:moveTo>
                <a:lnTo>
                  <a:pt x="6957907" y="0"/>
                </a:lnTo>
                <a:lnTo>
                  <a:pt x="6957907" y="7732451"/>
                </a:lnTo>
                <a:lnTo>
                  <a:pt x="0" y="7732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" t="0" r="-2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59969" y="828141"/>
            <a:ext cx="12618720" cy="272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TITLE PAGE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96929" y="-804423"/>
            <a:ext cx="15544800" cy="3128962"/>
            <a:chOff x="0" y="0"/>
            <a:chExt cx="20726400" cy="4171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4171950"/>
            </a:xfrm>
            <a:custGeom>
              <a:avLst/>
              <a:gdLst/>
              <a:ahLst/>
              <a:cxnLst/>
              <a:rect r="r" b="b" t="t" l="l"/>
              <a:pathLst>
                <a:path h="41719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71950"/>
                  </a:lnTo>
                  <a:lnTo>
                    <a:pt x="0" y="41719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726400" cy="419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2025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4339" y="1918475"/>
            <a:ext cx="9660386" cy="761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</a:p>
          <a:p>
            <a:pPr algn="just" marL="643013" indent="-214338" lvl="2">
              <a:lnSpc>
                <a:spcPts val="7309"/>
              </a:lnSpc>
              <a:buFont typeface="Arial"/>
              <a:buChar char="⚬"/>
            </a:pPr>
            <a:r>
              <a:rPr lang="en-US" b="true" sz="304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25041</a:t>
            </a:r>
          </a:p>
          <a:p>
            <a:pPr algn="just" marL="643013" indent="-214338" lvl="2">
              <a:lnSpc>
                <a:spcPts val="7309"/>
              </a:lnSpc>
              <a:buFont typeface="Arial"/>
              <a:buChar char="⚬"/>
            </a:pPr>
            <a:r>
              <a:rPr lang="en-US" b="true" sz="304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AI-Driven Unified Data Platform for Oceanographic, Fisheries, and Molecular Biodiversity Insights</a:t>
            </a:r>
          </a:p>
          <a:p>
            <a:pPr algn="just" marL="642819" indent="-214273" lvl="2">
              <a:lnSpc>
                <a:spcPts val="7309"/>
              </a:lnSpc>
              <a:buFont typeface="Arial"/>
              <a:buChar char="⚬"/>
            </a:pPr>
            <a:r>
              <a:rPr lang="en-US" b="true" sz="304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Renewable / Sustainable Energy      </a:t>
            </a:r>
          </a:p>
          <a:p>
            <a:pPr algn="just" marL="643013" indent="-214338" lvl="2">
              <a:lnSpc>
                <a:spcPts val="7309"/>
              </a:lnSpc>
              <a:buFont typeface="Arial"/>
              <a:buChar char="⚬"/>
            </a:pPr>
            <a:r>
              <a:rPr lang="en-US" b="true" sz="304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643013" indent="-214338" lvl="2">
              <a:lnSpc>
                <a:spcPts val="7309"/>
              </a:lnSpc>
              <a:buFont typeface="Arial"/>
              <a:buChar char="⚬"/>
            </a:pPr>
            <a:r>
              <a:rPr lang="en-US" b="true" sz="304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ID- 84743</a:t>
            </a:r>
          </a:p>
          <a:p>
            <a:pPr algn="just" marL="643013" indent="-214338" lvl="2">
              <a:lnSpc>
                <a:spcPts val="7309"/>
              </a:lnSpc>
              <a:buFont typeface="Arial"/>
              <a:buChar char="⚬"/>
            </a:pPr>
            <a:r>
              <a:rPr lang="en-US" b="true" sz="304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SPAARK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906625" y="0"/>
            <a:ext cx="3313652" cy="1684306"/>
            <a:chOff x="0" y="0"/>
            <a:chExt cx="4418203" cy="2245741"/>
          </a:xfrm>
        </p:grpSpPr>
        <p:sp>
          <p:nvSpPr>
            <p:cNvPr name="Freeform 9" id="9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310008" y="3318292"/>
            <a:ext cx="4805264" cy="5139356"/>
            <a:chOff x="0" y="0"/>
            <a:chExt cx="6407018" cy="68524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4947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25000"/>
            <a:ext cx="18287999" cy="754856"/>
            <a:chOff x="0" y="0"/>
            <a:chExt cx="24383999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25000"/>
            <a:ext cx="4267200" cy="561976"/>
            <a:chOff x="0" y="0"/>
            <a:chExt cx="5689600" cy="7493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25000"/>
            <a:ext cx="4806000" cy="561976"/>
            <a:chOff x="0" y="0"/>
            <a:chExt cx="6408000" cy="7493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49301"/>
            </a:xfrm>
            <a:custGeom>
              <a:avLst/>
              <a:gdLst/>
              <a:ahLst/>
              <a:cxnLst/>
              <a:rect r="r" b="b" t="t" l="l"/>
              <a:pathLst>
                <a:path h="749301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06625" y="0"/>
            <a:ext cx="3313652" cy="1684306"/>
            <a:chOff x="0" y="0"/>
            <a:chExt cx="4418203" cy="2245741"/>
          </a:xfrm>
        </p:grpSpPr>
        <p:sp>
          <p:nvSpPr>
            <p:cNvPr name="Freeform 11" id="11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1468" y="248256"/>
            <a:ext cx="13505937" cy="1495713"/>
            <a:chOff x="0" y="0"/>
            <a:chExt cx="26197794" cy="29012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197793" cy="2901270"/>
            </a:xfrm>
            <a:custGeom>
              <a:avLst/>
              <a:gdLst/>
              <a:ahLst/>
              <a:cxnLst/>
              <a:rect r="r" b="b" t="t" l="l"/>
              <a:pathLst>
                <a:path h="2901270" w="26197793">
                  <a:moveTo>
                    <a:pt x="0" y="0"/>
                  </a:moveTo>
                  <a:lnTo>
                    <a:pt x="26197793" y="0"/>
                  </a:lnTo>
                  <a:lnTo>
                    <a:pt x="26197793" y="2901270"/>
                  </a:lnTo>
                  <a:lnTo>
                    <a:pt x="0" y="2901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6197794" cy="297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b="true" sz="35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SPAARK – UNIFYING MARINE </a:t>
              </a:r>
              <a:r>
                <a:rPr lang="en-US" b="true" sz="35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DATA, POWERING      SUSTAINABLE OCEANS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0" y="0"/>
            <a:ext cx="1681830" cy="1577963"/>
          </a:xfrm>
          <a:custGeom>
            <a:avLst/>
            <a:gdLst/>
            <a:ahLst/>
            <a:cxnLst/>
            <a:rect r="r" b="b" t="t" l="l"/>
            <a:pathLst>
              <a:path h="1577963" w="1681830">
                <a:moveTo>
                  <a:pt x="0" y="0"/>
                </a:moveTo>
                <a:lnTo>
                  <a:pt x="1681830" y="0"/>
                </a:lnTo>
                <a:lnTo>
                  <a:pt x="1681830" y="1577963"/>
                </a:lnTo>
                <a:lnTo>
                  <a:pt x="0" y="1577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582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144000" y="7909485"/>
            <a:ext cx="8842958" cy="1470455"/>
            <a:chOff x="0" y="0"/>
            <a:chExt cx="11790611" cy="196060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449846" y="0"/>
              <a:ext cx="11340766" cy="1960606"/>
              <a:chOff x="0" y="0"/>
              <a:chExt cx="2279653" cy="39410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79653" cy="394109"/>
              </a:xfrm>
              <a:custGeom>
                <a:avLst/>
                <a:gdLst/>
                <a:ahLst/>
                <a:cxnLst/>
                <a:rect r="r" b="b" t="t" l="l"/>
                <a:pathLst>
                  <a:path h="394109" w="2279653">
                    <a:moveTo>
                      <a:pt x="8192" y="0"/>
                    </a:moveTo>
                    <a:lnTo>
                      <a:pt x="2271462" y="0"/>
                    </a:lnTo>
                    <a:cubicBezTo>
                      <a:pt x="2273634" y="0"/>
                      <a:pt x="2275718" y="863"/>
                      <a:pt x="2277254" y="2399"/>
                    </a:cubicBezTo>
                    <a:cubicBezTo>
                      <a:pt x="2278790" y="3936"/>
                      <a:pt x="2279653" y="6019"/>
                      <a:pt x="2279653" y="8192"/>
                    </a:cubicBezTo>
                    <a:lnTo>
                      <a:pt x="2279653" y="385918"/>
                    </a:lnTo>
                    <a:cubicBezTo>
                      <a:pt x="2279653" y="390442"/>
                      <a:pt x="2275986" y="394109"/>
                      <a:pt x="2271462" y="394109"/>
                    </a:cubicBezTo>
                    <a:lnTo>
                      <a:pt x="8192" y="394109"/>
                    </a:lnTo>
                    <a:cubicBezTo>
                      <a:pt x="6019" y="394109"/>
                      <a:pt x="3936" y="393246"/>
                      <a:pt x="2399" y="391710"/>
                    </a:cubicBezTo>
                    <a:cubicBezTo>
                      <a:pt x="863" y="390174"/>
                      <a:pt x="0" y="388090"/>
                      <a:pt x="0" y="385918"/>
                    </a:cubicBezTo>
                    <a:lnTo>
                      <a:pt x="0" y="8192"/>
                    </a:lnTo>
                    <a:cubicBezTo>
                      <a:pt x="0" y="6019"/>
                      <a:pt x="863" y="3936"/>
                      <a:pt x="2399" y="2399"/>
                    </a:cubicBezTo>
                    <a:cubicBezTo>
                      <a:pt x="3936" y="863"/>
                      <a:pt x="6019" y="0"/>
                      <a:pt x="81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2279653" cy="413159"/>
              </a:xfrm>
              <a:prstGeom prst="rect">
                <a:avLst/>
              </a:prstGeom>
            </p:spPr>
            <p:txBody>
              <a:bodyPr anchor="ctr" rtlCol="false" tIns="49920" lIns="49920" bIns="49920" rIns="49920"/>
              <a:lstStyle/>
              <a:p>
                <a:pPr algn="just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81889" y="195791"/>
              <a:ext cx="9476678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INNOVATION &amp; UNIQUENESS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908388"/>
              <a:ext cx="11556788" cy="890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38776" indent="-246259" lvl="2">
                <a:lnSpc>
                  <a:spcPts val="2703"/>
                </a:lnSpc>
                <a:buFont typeface="Arial"/>
                <a:buChar char="⚬"/>
              </a:pPr>
              <a:r>
                <a:rPr lang="en-US" b="true" sz="171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Scalabl</a:t>
              </a:r>
              <a:r>
                <a:rPr lang="en-US" b="true" sz="171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 hybrid storage</a:t>
              </a:r>
              <a:r>
                <a:rPr lang="en-US" sz="17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merges</a:t>
              </a:r>
              <a:r>
                <a:rPr lang="en-US" b="true" sz="171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NoSQL, SQL, geospatial, and time-series</a:t>
              </a:r>
              <a:r>
                <a:rPr lang="en-US" sz="17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just" marL="738776" indent="-246259" lvl="2">
                <a:lnSpc>
                  <a:spcPts val="2703"/>
                </a:lnSpc>
                <a:buFont typeface="Arial"/>
                <a:buChar char="⚬"/>
              </a:pPr>
              <a:r>
                <a:rPr lang="en-US" b="true" sz="171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</a:t>
              </a:r>
              <a:r>
                <a:rPr lang="en-US" b="true" sz="171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dular</a:t>
              </a:r>
              <a:r>
                <a:rPr lang="en-US" sz="17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US" b="true" sz="171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upgradable APIs</a:t>
              </a:r>
              <a:r>
                <a:rPr lang="en-US" sz="17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7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ena</a:t>
              </a:r>
              <a:r>
                <a:rPr lang="en-US" sz="17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bl</a:t>
              </a:r>
              <a:r>
                <a:rPr lang="en-US" sz="17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 </a:t>
              </a:r>
              <a:r>
                <a:rPr lang="en-US" b="true" sz="171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collaborative</a:t>
              </a:r>
              <a:r>
                <a:rPr lang="en-US" sz="17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r>
                <a:rPr lang="en-US" sz="17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b="true" sz="171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future-ready system growth</a:t>
              </a:r>
              <a:r>
                <a:rPr lang="en-US" sz="17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87802" y="5792648"/>
            <a:ext cx="8799156" cy="2025531"/>
            <a:chOff x="0" y="0"/>
            <a:chExt cx="11732208" cy="270070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391443" y="0"/>
              <a:ext cx="11340766" cy="2700708"/>
              <a:chOff x="0" y="0"/>
              <a:chExt cx="2279653" cy="54288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79653" cy="542880"/>
              </a:xfrm>
              <a:custGeom>
                <a:avLst/>
                <a:gdLst/>
                <a:ahLst/>
                <a:cxnLst/>
                <a:rect r="r" b="b" t="t" l="l"/>
                <a:pathLst>
                  <a:path h="542880" w="2279653">
                    <a:moveTo>
                      <a:pt x="8192" y="0"/>
                    </a:moveTo>
                    <a:lnTo>
                      <a:pt x="2271462" y="0"/>
                    </a:lnTo>
                    <a:cubicBezTo>
                      <a:pt x="2273634" y="0"/>
                      <a:pt x="2275718" y="863"/>
                      <a:pt x="2277254" y="2399"/>
                    </a:cubicBezTo>
                    <a:cubicBezTo>
                      <a:pt x="2278790" y="3936"/>
                      <a:pt x="2279653" y="6019"/>
                      <a:pt x="2279653" y="8192"/>
                    </a:cubicBezTo>
                    <a:lnTo>
                      <a:pt x="2279653" y="534688"/>
                    </a:lnTo>
                    <a:cubicBezTo>
                      <a:pt x="2279653" y="536861"/>
                      <a:pt x="2278790" y="538945"/>
                      <a:pt x="2277254" y="540481"/>
                    </a:cubicBezTo>
                    <a:cubicBezTo>
                      <a:pt x="2275718" y="542017"/>
                      <a:pt x="2273634" y="542880"/>
                      <a:pt x="2271462" y="542880"/>
                    </a:cubicBezTo>
                    <a:lnTo>
                      <a:pt x="8192" y="542880"/>
                    </a:lnTo>
                    <a:cubicBezTo>
                      <a:pt x="6019" y="542880"/>
                      <a:pt x="3936" y="542017"/>
                      <a:pt x="2399" y="540481"/>
                    </a:cubicBezTo>
                    <a:cubicBezTo>
                      <a:pt x="863" y="538945"/>
                      <a:pt x="0" y="536861"/>
                      <a:pt x="0" y="534688"/>
                    </a:cubicBezTo>
                    <a:lnTo>
                      <a:pt x="0" y="8192"/>
                    </a:lnTo>
                    <a:cubicBezTo>
                      <a:pt x="0" y="6019"/>
                      <a:pt x="863" y="3936"/>
                      <a:pt x="2399" y="2399"/>
                    </a:cubicBezTo>
                    <a:cubicBezTo>
                      <a:pt x="3936" y="863"/>
                      <a:pt x="6019" y="0"/>
                      <a:pt x="81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2279653" cy="561930"/>
              </a:xfrm>
              <a:prstGeom prst="rect">
                <a:avLst/>
              </a:prstGeom>
            </p:spPr>
            <p:txBody>
              <a:bodyPr anchor="ctr" rtlCol="false" tIns="49920" lIns="49920" bIns="49920" rIns="49920"/>
              <a:lstStyle/>
              <a:p>
                <a:pPr algn="just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732677"/>
              <a:ext cx="11597606" cy="1624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47708" indent="-249236" lvl="2">
                <a:lnSpc>
                  <a:spcPts val="2422"/>
                </a:lnSpc>
                <a:buFont typeface="Arial"/>
                <a:buChar char="⚬"/>
              </a:pP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AI-pow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ered platform </a:t>
              </a:r>
              <a:r>
                <a:rPr lang="en-US" b="true" sz="173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unifies diverse marine datasets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and delivers real-time decision insights.</a:t>
              </a:r>
            </a:p>
            <a:p>
              <a:pPr algn="just" marL="747708" indent="-249236" lvl="2">
                <a:lnSpc>
                  <a:spcPts val="2422"/>
                </a:lnSpc>
                <a:buFont typeface="Arial"/>
                <a:buChar char="⚬"/>
              </a:pP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Hybrid 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ora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b="true" sz="173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supports scalable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fl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bl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 dat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management and </a:t>
              </a:r>
              <a:r>
                <a:rPr lang="en-US" b="true" sz="173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advanced AI analytics 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 </a:t>
              </a:r>
              <a:r>
                <a:rPr lang="en-US" b="true" sz="173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ecosystem health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lang="en-US" b="true" sz="173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renewable energy planning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511834" y="3591"/>
              <a:ext cx="9537981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IT ADDRESSES THE PROBLEM ?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62646" y="1674775"/>
            <a:ext cx="9018714" cy="7705164"/>
            <a:chOff x="0" y="0"/>
            <a:chExt cx="12024951" cy="10273553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2024951" cy="10273553"/>
              <a:chOff x="0" y="0"/>
              <a:chExt cx="2417184" cy="206512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417184" cy="2065129"/>
              </a:xfrm>
              <a:custGeom>
                <a:avLst/>
                <a:gdLst/>
                <a:ahLst/>
                <a:cxnLst/>
                <a:rect r="r" b="b" t="t" l="l"/>
                <a:pathLst>
                  <a:path h="2065129" w="2417184">
                    <a:moveTo>
                      <a:pt x="7726" y="0"/>
                    </a:moveTo>
                    <a:lnTo>
                      <a:pt x="2409459" y="0"/>
                    </a:lnTo>
                    <a:cubicBezTo>
                      <a:pt x="2411508" y="0"/>
                      <a:pt x="2413473" y="814"/>
                      <a:pt x="2414922" y="2263"/>
                    </a:cubicBezTo>
                    <a:cubicBezTo>
                      <a:pt x="2416371" y="3712"/>
                      <a:pt x="2417184" y="5677"/>
                      <a:pt x="2417184" y="7726"/>
                    </a:cubicBezTo>
                    <a:lnTo>
                      <a:pt x="2417184" y="2057403"/>
                    </a:lnTo>
                    <a:cubicBezTo>
                      <a:pt x="2417184" y="2059452"/>
                      <a:pt x="2416371" y="2061417"/>
                      <a:pt x="2414922" y="2062866"/>
                    </a:cubicBezTo>
                    <a:cubicBezTo>
                      <a:pt x="2413473" y="2064315"/>
                      <a:pt x="2411508" y="2065129"/>
                      <a:pt x="2409459" y="2065129"/>
                    </a:cubicBezTo>
                    <a:lnTo>
                      <a:pt x="7726" y="2065129"/>
                    </a:lnTo>
                    <a:cubicBezTo>
                      <a:pt x="5677" y="2065129"/>
                      <a:pt x="3712" y="2064315"/>
                      <a:pt x="2263" y="2062866"/>
                    </a:cubicBezTo>
                    <a:cubicBezTo>
                      <a:pt x="814" y="2061417"/>
                      <a:pt x="0" y="2059452"/>
                      <a:pt x="0" y="2057403"/>
                    </a:cubicBezTo>
                    <a:lnTo>
                      <a:pt x="0" y="7726"/>
                    </a:lnTo>
                    <a:cubicBezTo>
                      <a:pt x="0" y="5677"/>
                      <a:pt x="814" y="3712"/>
                      <a:pt x="2263" y="2263"/>
                    </a:cubicBezTo>
                    <a:cubicBezTo>
                      <a:pt x="3712" y="814"/>
                      <a:pt x="5677" y="0"/>
                      <a:pt x="77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9050"/>
                <a:ext cx="2417184" cy="2084179"/>
              </a:xfrm>
              <a:prstGeom prst="rect">
                <a:avLst/>
              </a:prstGeom>
            </p:spPr>
            <p:txBody>
              <a:bodyPr anchor="ctr" rtlCol="false" tIns="49920" lIns="49920" bIns="49920" rIns="49920"/>
              <a:lstStyle/>
              <a:p>
                <a:pPr algn="just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84445" y="74908"/>
              <a:ext cx="11056062" cy="610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b="true" sz="27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PROPOSED SOLUTION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699110" y="8221166"/>
              <a:ext cx="11023298" cy="1739316"/>
              <a:chOff x="0" y="0"/>
              <a:chExt cx="4517400" cy="71278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515989" cy="712780"/>
              </a:xfrm>
              <a:custGeom>
                <a:avLst/>
                <a:gdLst/>
                <a:ahLst/>
                <a:cxnLst/>
                <a:rect r="r" b="b" t="t" l="l"/>
                <a:pathLst>
                  <a:path h="712780" w="4515989">
                    <a:moveTo>
                      <a:pt x="4306708" y="0"/>
                    </a:moveTo>
                    <a:lnTo>
                      <a:pt x="7491" y="0"/>
                    </a:lnTo>
                    <a:cubicBezTo>
                      <a:pt x="5505" y="0"/>
                      <a:pt x="3599" y="789"/>
                      <a:pt x="2194" y="2194"/>
                    </a:cubicBezTo>
                    <a:cubicBezTo>
                      <a:pt x="789" y="3599"/>
                      <a:pt x="0" y="5505"/>
                      <a:pt x="0" y="7491"/>
                    </a:cubicBezTo>
                    <a:lnTo>
                      <a:pt x="0" y="705288"/>
                    </a:lnTo>
                    <a:cubicBezTo>
                      <a:pt x="0" y="709426"/>
                      <a:pt x="3354" y="712780"/>
                      <a:pt x="7491" y="712780"/>
                    </a:cubicBezTo>
                    <a:lnTo>
                      <a:pt x="4306708" y="712780"/>
                    </a:lnTo>
                    <a:cubicBezTo>
                      <a:pt x="4311340" y="712780"/>
                      <a:pt x="4315616" y="710296"/>
                      <a:pt x="4317910" y="706272"/>
                    </a:cubicBezTo>
                    <a:lnTo>
                      <a:pt x="4513689" y="362898"/>
                    </a:lnTo>
                    <a:cubicBezTo>
                      <a:pt x="4515989" y="358864"/>
                      <a:pt x="4515989" y="353916"/>
                      <a:pt x="4513689" y="349882"/>
                    </a:cubicBezTo>
                    <a:lnTo>
                      <a:pt x="4317910" y="6508"/>
                    </a:lnTo>
                    <a:cubicBezTo>
                      <a:pt x="4315616" y="2484"/>
                      <a:pt x="4311340" y="0"/>
                      <a:pt x="4306708" y="0"/>
                    </a:cubicBezTo>
                    <a:close/>
                  </a:path>
                </a:pathLst>
              </a:custGeom>
              <a:solidFill>
                <a:srgbClr val="FCF7F6"/>
              </a:solidFill>
              <a:ln w="28575" cap="sq">
                <a:solidFill>
                  <a:srgbClr val="D9B98B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57150"/>
                <a:ext cx="4403100" cy="7699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-5400000">
              <a:off x="238911" y="8630625"/>
              <a:ext cx="920399" cy="920399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B9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99110" y="6349846"/>
              <a:ext cx="11109941" cy="1739316"/>
              <a:chOff x="0" y="0"/>
              <a:chExt cx="4552906" cy="71278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551507" cy="712780"/>
              </a:xfrm>
              <a:custGeom>
                <a:avLst/>
                <a:gdLst/>
                <a:ahLst/>
                <a:cxnLst/>
                <a:rect r="r" b="b" t="t" l="l"/>
                <a:pathLst>
                  <a:path h="712780" w="4551507">
                    <a:moveTo>
                      <a:pt x="4342273" y="0"/>
                    </a:moveTo>
                    <a:lnTo>
                      <a:pt x="7433" y="0"/>
                    </a:lnTo>
                    <a:cubicBezTo>
                      <a:pt x="3328" y="0"/>
                      <a:pt x="0" y="3328"/>
                      <a:pt x="0" y="7433"/>
                    </a:cubicBezTo>
                    <a:lnTo>
                      <a:pt x="0" y="705347"/>
                    </a:lnTo>
                    <a:cubicBezTo>
                      <a:pt x="0" y="709452"/>
                      <a:pt x="3328" y="712780"/>
                      <a:pt x="7433" y="712780"/>
                    </a:cubicBezTo>
                    <a:lnTo>
                      <a:pt x="4342273" y="712780"/>
                    </a:lnTo>
                    <a:cubicBezTo>
                      <a:pt x="4346869" y="712780"/>
                      <a:pt x="4351112" y="710315"/>
                      <a:pt x="4353388" y="706323"/>
                    </a:cubicBezTo>
                    <a:lnTo>
                      <a:pt x="4549225" y="362847"/>
                    </a:lnTo>
                    <a:cubicBezTo>
                      <a:pt x="4551507" y="358845"/>
                      <a:pt x="4551507" y="353935"/>
                      <a:pt x="4549225" y="349933"/>
                    </a:cubicBezTo>
                    <a:lnTo>
                      <a:pt x="4353388" y="6457"/>
                    </a:lnTo>
                    <a:cubicBezTo>
                      <a:pt x="4351112" y="2465"/>
                      <a:pt x="4346869" y="0"/>
                      <a:pt x="4342273" y="0"/>
                    </a:cubicBezTo>
                    <a:close/>
                  </a:path>
                </a:pathLst>
              </a:custGeom>
              <a:solidFill>
                <a:srgbClr val="FCF7F6"/>
              </a:solidFill>
              <a:ln w="28575" cap="sq">
                <a:solidFill>
                  <a:srgbClr val="7DA2A9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4438606" cy="7699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-5400000">
              <a:off x="238911" y="6759305"/>
              <a:ext cx="920399" cy="920399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DA2A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99110" y="4478526"/>
              <a:ext cx="11109941" cy="1739316"/>
              <a:chOff x="0" y="0"/>
              <a:chExt cx="4552906" cy="71278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4551507" cy="712780"/>
              </a:xfrm>
              <a:custGeom>
                <a:avLst/>
                <a:gdLst/>
                <a:ahLst/>
                <a:cxnLst/>
                <a:rect r="r" b="b" t="t" l="l"/>
                <a:pathLst>
                  <a:path h="712780" w="4551507">
                    <a:moveTo>
                      <a:pt x="4342273" y="0"/>
                    </a:moveTo>
                    <a:lnTo>
                      <a:pt x="7433" y="0"/>
                    </a:lnTo>
                    <a:cubicBezTo>
                      <a:pt x="3328" y="0"/>
                      <a:pt x="0" y="3328"/>
                      <a:pt x="0" y="7433"/>
                    </a:cubicBezTo>
                    <a:lnTo>
                      <a:pt x="0" y="705347"/>
                    </a:lnTo>
                    <a:cubicBezTo>
                      <a:pt x="0" y="709452"/>
                      <a:pt x="3328" y="712780"/>
                      <a:pt x="7433" y="712780"/>
                    </a:cubicBezTo>
                    <a:lnTo>
                      <a:pt x="4342273" y="712780"/>
                    </a:lnTo>
                    <a:cubicBezTo>
                      <a:pt x="4346869" y="712780"/>
                      <a:pt x="4351112" y="710315"/>
                      <a:pt x="4353388" y="706323"/>
                    </a:cubicBezTo>
                    <a:lnTo>
                      <a:pt x="4549225" y="362847"/>
                    </a:lnTo>
                    <a:cubicBezTo>
                      <a:pt x="4551507" y="358845"/>
                      <a:pt x="4551507" y="353935"/>
                      <a:pt x="4549225" y="349933"/>
                    </a:cubicBezTo>
                    <a:lnTo>
                      <a:pt x="4353388" y="6457"/>
                    </a:lnTo>
                    <a:cubicBezTo>
                      <a:pt x="4351112" y="2465"/>
                      <a:pt x="4346869" y="0"/>
                      <a:pt x="4342273" y="0"/>
                    </a:cubicBezTo>
                    <a:close/>
                  </a:path>
                </a:pathLst>
              </a:custGeom>
              <a:solidFill>
                <a:srgbClr val="FCF7F6"/>
              </a:solidFill>
              <a:ln w="28575" cap="sq">
                <a:solidFill>
                  <a:srgbClr val="A1B4A2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57150"/>
                <a:ext cx="4438606" cy="7699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5400000">
              <a:off x="238911" y="4887985"/>
              <a:ext cx="920399" cy="920399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1B4A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699110" y="2607206"/>
              <a:ext cx="11109941" cy="1739316"/>
              <a:chOff x="0" y="0"/>
              <a:chExt cx="4552906" cy="71278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4551507" cy="712780"/>
              </a:xfrm>
              <a:custGeom>
                <a:avLst/>
                <a:gdLst/>
                <a:ahLst/>
                <a:cxnLst/>
                <a:rect r="r" b="b" t="t" l="l"/>
                <a:pathLst>
                  <a:path h="712780" w="4551507">
                    <a:moveTo>
                      <a:pt x="4342273" y="0"/>
                    </a:moveTo>
                    <a:lnTo>
                      <a:pt x="7433" y="0"/>
                    </a:lnTo>
                    <a:cubicBezTo>
                      <a:pt x="3328" y="0"/>
                      <a:pt x="0" y="3328"/>
                      <a:pt x="0" y="7433"/>
                    </a:cubicBezTo>
                    <a:lnTo>
                      <a:pt x="0" y="705347"/>
                    </a:lnTo>
                    <a:cubicBezTo>
                      <a:pt x="0" y="709452"/>
                      <a:pt x="3328" y="712780"/>
                      <a:pt x="7433" y="712780"/>
                    </a:cubicBezTo>
                    <a:lnTo>
                      <a:pt x="4342273" y="712780"/>
                    </a:lnTo>
                    <a:cubicBezTo>
                      <a:pt x="4346869" y="712780"/>
                      <a:pt x="4351112" y="710315"/>
                      <a:pt x="4353388" y="706323"/>
                    </a:cubicBezTo>
                    <a:lnTo>
                      <a:pt x="4549225" y="362847"/>
                    </a:lnTo>
                    <a:cubicBezTo>
                      <a:pt x="4551507" y="358845"/>
                      <a:pt x="4551507" y="353935"/>
                      <a:pt x="4549225" y="349933"/>
                    </a:cubicBezTo>
                    <a:lnTo>
                      <a:pt x="4353388" y="6457"/>
                    </a:lnTo>
                    <a:cubicBezTo>
                      <a:pt x="4351112" y="2465"/>
                      <a:pt x="4346869" y="0"/>
                      <a:pt x="4342273" y="0"/>
                    </a:cubicBezTo>
                    <a:close/>
                  </a:path>
                </a:pathLst>
              </a:custGeom>
              <a:solidFill>
                <a:srgbClr val="FCF7F6"/>
              </a:solidFill>
              <a:ln w="28575" cap="sq">
                <a:solidFill>
                  <a:srgbClr val="9E8C95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57150"/>
                <a:ext cx="4438606" cy="7699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-5400000">
              <a:off x="238911" y="3016665"/>
              <a:ext cx="920399" cy="920399"/>
              <a:chOff x="0" y="0"/>
              <a:chExt cx="812800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8C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699110" y="735886"/>
              <a:ext cx="11109941" cy="1739316"/>
              <a:chOff x="0" y="0"/>
              <a:chExt cx="4552906" cy="71278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551331" cy="712780"/>
              </a:xfrm>
              <a:custGeom>
                <a:avLst/>
                <a:gdLst/>
                <a:ahLst/>
                <a:cxnLst/>
                <a:rect r="r" b="b" t="t" l="l"/>
                <a:pathLst>
                  <a:path h="712780" w="4551331">
                    <a:moveTo>
                      <a:pt x="4341344" y="0"/>
                    </a:moveTo>
                    <a:lnTo>
                      <a:pt x="8362" y="0"/>
                    </a:lnTo>
                    <a:cubicBezTo>
                      <a:pt x="3744" y="0"/>
                      <a:pt x="0" y="3744"/>
                      <a:pt x="0" y="8362"/>
                    </a:cubicBezTo>
                    <a:lnTo>
                      <a:pt x="0" y="704418"/>
                    </a:lnTo>
                    <a:cubicBezTo>
                      <a:pt x="0" y="709036"/>
                      <a:pt x="3744" y="712780"/>
                      <a:pt x="8362" y="712780"/>
                    </a:cubicBezTo>
                    <a:lnTo>
                      <a:pt x="4341344" y="712780"/>
                    </a:lnTo>
                    <a:cubicBezTo>
                      <a:pt x="4346514" y="712780"/>
                      <a:pt x="4351287" y="710007"/>
                      <a:pt x="4353848" y="705515"/>
                    </a:cubicBezTo>
                    <a:lnTo>
                      <a:pt x="4548764" y="363654"/>
                    </a:lnTo>
                    <a:cubicBezTo>
                      <a:pt x="4551331" y="359152"/>
                      <a:pt x="4551331" y="353628"/>
                      <a:pt x="4548764" y="349126"/>
                    </a:cubicBezTo>
                    <a:lnTo>
                      <a:pt x="4353848" y="7264"/>
                    </a:lnTo>
                    <a:cubicBezTo>
                      <a:pt x="4351287" y="2773"/>
                      <a:pt x="4346514" y="0"/>
                      <a:pt x="4341344" y="0"/>
                    </a:cubicBezTo>
                    <a:close/>
                  </a:path>
                </a:pathLst>
              </a:custGeom>
              <a:solidFill>
                <a:srgbClr val="FCF7F6"/>
              </a:solidFill>
              <a:ln w="28575" cap="sq">
                <a:solidFill>
                  <a:srgbClr val="667B8A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57150"/>
                <a:ext cx="4438606" cy="7699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-5400000">
              <a:off x="238911" y="1145344"/>
              <a:ext cx="920399" cy="920399"/>
              <a:chOff x="0" y="0"/>
              <a:chExt cx="812800" cy="8128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67B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3" id="63"/>
            <p:cNvSpPr/>
            <p:nvPr/>
          </p:nvSpPr>
          <p:spPr>
            <a:xfrm flipH="false" flipV="false" rot="-5400000">
              <a:off x="436814" y="8823349"/>
              <a:ext cx="532120" cy="532120"/>
            </a:xfrm>
            <a:custGeom>
              <a:avLst/>
              <a:gdLst/>
              <a:ahLst/>
              <a:cxnLst/>
              <a:rect r="r" b="b" t="t" l="l"/>
              <a:pathLst>
                <a:path h="532120" w="532120">
                  <a:moveTo>
                    <a:pt x="0" y="0"/>
                  </a:moveTo>
                  <a:lnTo>
                    <a:pt x="532120" y="0"/>
                  </a:lnTo>
                  <a:lnTo>
                    <a:pt x="532120" y="532120"/>
                  </a:lnTo>
                  <a:lnTo>
                    <a:pt x="0" y="532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4" id="64"/>
            <p:cNvSpPr/>
            <p:nvPr/>
          </p:nvSpPr>
          <p:spPr>
            <a:xfrm flipH="false" flipV="false" rot="-5400000">
              <a:off x="341933" y="6958616"/>
              <a:ext cx="680396" cy="505690"/>
            </a:xfrm>
            <a:custGeom>
              <a:avLst/>
              <a:gdLst/>
              <a:ahLst/>
              <a:cxnLst/>
              <a:rect r="r" b="b" t="t" l="l"/>
              <a:pathLst>
                <a:path h="505690" w="680396">
                  <a:moveTo>
                    <a:pt x="0" y="0"/>
                  </a:moveTo>
                  <a:lnTo>
                    <a:pt x="680397" y="0"/>
                  </a:lnTo>
                  <a:lnTo>
                    <a:pt x="680397" y="505690"/>
                  </a:lnTo>
                  <a:lnTo>
                    <a:pt x="0" y="505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305953" y="1191155"/>
              <a:ext cx="763991" cy="793868"/>
            </a:xfrm>
            <a:custGeom>
              <a:avLst/>
              <a:gdLst/>
              <a:ahLst/>
              <a:cxnLst/>
              <a:rect r="r" b="b" t="t" l="l"/>
              <a:pathLst>
                <a:path h="793868" w="763991">
                  <a:moveTo>
                    <a:pt x="0" y="0"/>
                  </a:moveTo>
                  <a:lnTo>
                    <a:pt x="763991" y="0"/>
                  </a:lnTo>
                  <a:lnTo>
                    <a:pt x="763991" y="793868"/>
                  </a:lnTo>
                  <a:lnTo>
                    <a:pt x="0" y="793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9823" t="-6837" r="-46918" b="-6291"/>
              </a:stretch>
            </a:blipFill>
          </p:spPr>
        </p:sp>
        <p:sp>
          <p:nvSpPr>
            <p:cNvPr name="Freeform 66" id="66"/>
            <p:cNvSpPr/>
            <p:nvPr/>
          </p:nvSpPr>
          <p:spPr>
            <a:xfrm flipH="false" flipV="false" rot="-5400000">
              <a:off x="343059" y="3022066"/>
              <a:ext cx="689779" cy="853356"/>
            </a:xfrm>
            <a:custGeom>
              <a:avLst/>
              <a:gdLst/>
              <a:ahLst/>
              <a:cxnLst/>
              <a:rect r="r" b="b" t="t" l="l"/>
              <a:pathLst>
                <a:path h="853356" w="689779">
                  <a:moveTo>
                    <a:pt x="0" y="0"/>
                  </a:moveTo>
                  <a:lnTo>
                    <a:pt x="689779" y="0"/>
                  </a:lnTo>
                  <a:lnTo>
                    <a:pt x="689779" y="853356"/>
                  </a:lnTo>
                  <a:lnTo>
                    <a:pt x="0" y="853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301062" y="4993684"/>
              <a:ext cx="768883" cy="709001"/>
            </a:xfrm>
            <a:custGeom>
              <a:avLst/>
              <a:gdLst/>
              <a:ahLst/>
              <a:cxnLst/>
              <a:rect r="r" b="b" t="t" l="l"/>
              <a:pathLst>
                <a:path h="709001" w="768883">
                  <a:moveTo>
                    <a:pt x="0" y="0"/>
                  </a:moveTo>
                  <a:lnTo>
                    <a:pt x="768882" y="0"/>
                  </a:lnTo>
                  <a:lnTo>
                    <a:pt x="768882" y="709000"/>
                  </a:lnTo>
                  <a:lnTo>
                    <a:pt x="0" y="70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8013" t="-3429" r="-3500" b="-137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 rot="0">
              <a:off x="1313845" y="8419362"/>
              <a:ext cx="7381209" cy="440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3"/>
                </a:lnSpc>
              </a:pPr>
              <a:r>
                <a:rPr lang="en-US" sz="1995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Interactive Decision-Support Dashboards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1313845" y="5180648"/>
              <a:ext cx="10226662" cy="767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Uses </a:t>
              </a:r>
              <a:r>
                <a:rPr lang="en-US" sz="17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CNNs for taxonomic classification</a:t>
              </a: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, otolith morphometrics, and eDNA </a:t>
              </a:r>
              <a:r>
                <a:rPr lang="en-US" sz="17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biodiversity monitoring</a:t>
              </a: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to enhance </a:t>
              </a:r>
              <a:r>
                <a:rPr lang="en-US" sz="17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renewable energy</a:t>
              </a: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and </a:t>
              </a:r>
              <a:r>
                <a:rPr lang="en-US" sz="17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ecosystem decisions.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522545" y="6509942"/>
              <a:ext cx="7749013" cy="440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3"/>
                </a:lnSpc>
              </a:pPr>
              <a:r>
                <a:rPr lang="en-US" b="true" sz="1995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Standardized &amp; Interoperable Framework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1305380" y="3282186"/>
              <a:ext cx="10235127" cy="767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9"/>
                </a:lnSpc>
              </a:pP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Th</a:t>
              </a: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 system scales using </a:t>
              </a:r>
              <a:r>
                <a:rPr lang="en-US" sz="1699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adaptable APIs </a:t>
              </a: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and multi-store architecture: </a:t>
              </a:r>
              <a:r>
                <a:rPr lang="en-US" sz="1699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NoSQL</a:t>
              </a: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for raw data, Vector DBs for </a:t>
              </a:r>
              <a:r>
                <a:rPr lang="en-US" sz="1699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real-time search</a:t>
              </a: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, and SQL for </a:t>
              </a:r>
              <a:r>
                <a:rPr lang="en-US" sz="1699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validated storage.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329267" y="4676722"/>
              <a:ext cx="7983169" cy="440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3"/>
                </a:lnSpc>
              </a:pPr>
              <a:r>
                <a:rPr lang="en-US" b="true" sz="1995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Advanced AI Analytics for Sustainability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1279980" y="2764017"/>
              <a:ext cx="6821337" cy="440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93"/>
                </a:lnSpc>
              </a:pPr>
              <a:r>
                <a:rPr lang="en-US" b="true" sz="1995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 Scalable System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1348826" y="1439553"/>
              <a:ext cx="9766841" cy="1161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9"/>
                </a:lnSpc>
              </a:pPr>
              <a:r>
                <a:rPr lang="en-US" sz="1699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Cloud-native</a:t>
              </a: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platform </a:t>
              </a:r>
              <a:r>
                <a:rPr lang="en-US" sz="1699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automates ingestion</a:t>
              </a: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, </a:t>
              </a:r>
              <a:r>
                <a:rPr lang="en-US" sz="1699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validation</a:t>
              </a: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, and </a:t>
              </a:r>
              <a:r>
                <a:rPr lang="en-US" sz="1699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management</a:t>
              </a: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of </a:t>
              </a:r>
              <a:r>
                <a:rPr lang="en-US" sz="1699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physical,</a:t>
              </a: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99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chemica</a:t>
              </a: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l,</a:t>
              </a:r>
              <a:r>
                <a:rPr lang="en-US" sz="1699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 biological,</a:t>
              </a:r>
              <a:r>
                <a:rPr lang="en-US" sz="16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and fisheries data from diverse sources.</a:t>
              </a:r>
            </a:p>
            <a:p>
              <a:pPr algn="l">
                <a:lnSpc>
                  <a:spcPts val="2379"/>
                </a:lnSpc>
              </a:pP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200811" y="880810"/>
              <a:ext cx="7559262" cy="440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3"/>
                </a:lnSpc>
              </a:pPr>
              <a:r>
                <a:rPr lang="en-US" b="true" sz="1995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  AI-Enabled Marine Data Integration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1313845" y="7030420"/>
              <a:ext cx="10586363" cy="767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Adopt</a:t>
              </a: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</a:t>
              </a:r>
              <a:r>
                <a:rPr lang="en-US" sz="17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 international metadata</a:t>
              </a: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standards ensuring </a:t>
              </a:r>
              <a:r>
                <a:rPr lang="en-US" sz="17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data uniformity</a:t>
              </a: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, reproducibility, and seamless </a:t>
              </a:r>
              <a:r>
                <a:rPr lang="en-US" sz="17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cross-domain collaboration</a:t>
              </a: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among </a:t>
              </a:r>
              <a:r>
                <a:rPr lang="en-US" sz="17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marine research institutions.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1348826" y="8923288"/>
              <a:ext cx="9766841" cy="1161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Visual dashboard</a:t>
              </a: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 offer</a:t>
              </a:r>
              <a:r>
                <a:rPr lang="en-US" sz="17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 real-time analytics</a:t>
              </a: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, </a:t>
              </a:r>
              <a:r>
                <a:rPr lang="en-US" sz="17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empowering researchers</a:t>
              </a: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and policymakers with </a:t>
              </a:r>
              <a:r>
                <a:rPr lang="en-US" sz="17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secure, compliant, and cost-efficient</a:t>
              </a:r>
              <a:r>
                <a:rPr lang="en-US" sz="17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marine intelligence.</a:t>
              </a:r>
            </a:p>
            <a:p>
              <a:pPr algn="l">
                <a:lnSpc>
                  <a:spcPts val="2380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481384" y="1744638"/>
            <a:ext cx="8505574" cy="3952760"/>
            <a:chOff x="0" y="0"/>
            <a:chExt cx="11340766" cy="5270346"/>
          </a:xfrm>
        </p:grpSpPr>
        <p:grpSp>
          <p:nvGrpSpPr>
            <p:cNvPr name="Group 79" id="79"/>
            <p:cNvGrpSpPr/>
            <p:nvPr/>
          </p:nvGrpSpPr>
          <p:grpSpPr>
            <a:xfrm rot="0">
              <a:off x="0" y="0"/>
              <a:ext cx="11340766" cy="5270346"/>
              <a:chOff x="0" y="0"/>
              <a:chExt cx="2279653" cy="1059414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2279653" cy="1059414"/>
              </a:xfrm>
              <a:custGeom>
                <a:avLst/>
                <a:gdLst/>
                <a:ahLst/>
                <a:cxnLst/>
                <a:rect r="r" b="b" t="t" l="l"/>
                <a:pathLst>
                  <a:path h="1059414" w="2279653">
                    <a:moveTo>
                      <a:pt x="8192" y="0"/>
                    </a:moveTo>
                    <a:lnTo>
                      <a:pt x="2271462" y="0"/>
                    </a:lnTo>
                    <a:cubicBezTo>
                      <a:pt x="2273634" y="0"/>
                      <a:pt x="2275718" y="863"/>
                      <a:pt x="2277254" y="2399"/>
                    </a:cubicBezTo>
                    <a:cubicBezTo>
                      <a:pt x="2278790" y="3936"/>
                      <a:pt x="2279653" y="6019"/>
                      <a:pt x="2279653" y="8192"/>
                    </a:cubicBezTo>
                    <a:lnTo>
                      <a:pt x="2279653" y="1051222"/>
                    </a:lnTo>
                    <a:cubicBezTo>
                      <a:pt x="2279653" y="1053394"/>
                      <a:pt x="2278790" y="1055478"/>
                      <a:pt x="2277254" y="1057014"/>
                    </a:cubicBezTo>
                    <a:cubicBezTo>
                      <a:pt x="2275718" y="1058551"/>
                      <a:pt x="2273634" y="1059414"/>
                      <a:pt x="2271462" y="1059414"/>
                    </a:cubicBezTo>
                    <a:lnTo>
                      <a:pt x="8192" y="1059414"/>
                    </a:lnTo>
                    <a:cubicBezTo>
                      <a:pt x="6019" y="1059414"/>
                      <a:pt x="3936" y="1058551"/>
                      <a:pt x="2399" y="1057014"/>
                    </a:cubicBezTo>
                    <a:cubicBezTo>
                      <a:pt x="863" y="1055478"/>
                      <a:pt x="0" y="1053394"/>
                      <a:pt x="0" y="1051222"/>
                    </a:cubicBezTo>
                    <a:lnTo>
                      <a:pt x="0" y="8192"/>
                    </a:lnTo>
                    <a:cubicBezTo>
                      <a:pt x="0" y="6019"/>
                      <a:pt x="863" y="3936"/>
                      <a:pt x="2399" y="2399"/>
                    </a:cubicBezTo>
                    <a:cubicBezTo>
                      <a:pt x="3936" y="863"/>
                      <a:pt x="6019" y="0"/>
                      <a:pt x="81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19050"/>
                <a:ext cx="2279653" cy="1078464"/>
              </a:xfrm>
              <a:prstGeom prst="rect">
                <a:avLst/>
              </a:prstGeom>
            </p:spPr>
            <p:txBody>
              <a:bodyPr anchor="ctr" rtlCol="false" tIns="49920" lIns="49920" bIns="49920" rIns="49920"/>
              <a:lstStyle/>
              <a:p>
                <a:pPr algn="l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82" id="82"/>
            <p:cNvSpPr txBox="true"/>
            <p:nvPr/>
          </p:nvSpPr>
          <p:spPr>
            <a:xfrm rot="0">
              <a:off x="676469" y="32500"/>
              <a:ext cx="9537981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MARINE DATA DOMAINS</a:t>
              </a:r>
            </a:p>
          </p:txBody>
        </p:sp>
        <p:sp>
          <p:nvSpPr>
            <p:cNvPr name="Freeform 83" id="83"/>
            <p:cNvSpPr/>
            <p:nvPr/>
          </p:nvSpPr>
          <p:spPr>
            <a:xfrm flipH="false" flipV="false" rot="0">
              <a:off x="0" y="642735"/>
              <a:ext cx="1261837" cy="1261837"/>
            </a:xfrm>
            <a:custGeom>
              <a:avLst/>
              <a:gdLst/>
              <a:ahLst/>
              <a:cxnLst/>
              <a:rect r="r" b="b" t="t" l="l"/>
              <a:pathLst>
                <a:path h="1261837" w="1261837">
                  <a:moveTo>
                    <a:pt x="0" y="0"/>
                  </a:moveTo>
                  <a:lnTo>
                    <a:pt x="1261837" y="0"/>
                  </a:lnTo>
                  <a:lnTo>
                    <a:pt x="1261837" y="1261837"/>
                  </a:lnTo>
                  <a:lnTo>
                    <a:pt x="0" y="1261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4" id="84"/>
            <p:cNvSpPr/>
            <p:nvPr/>
          </p:nvSpPr>
          <p:spPr>
            <a:xfrm flipH="true" flipV="false" rot="0">
              <a:off x="204554" y="1026922"/>
              <a:ext cx="852729" cy="452722"/>
            </a:xfrm>
            <a:custGeom>
              <a:avLst/>
              <a:gdLst/>
              <a:ahLst/>
              <a:cxnLst/>
              <a:rect r="r" b="b" t="t" l="l"/>
              <a:pathLst>
                <a:path h="452722" w="852729">
                  <a:moveTo>
                    <a:pt x="852729" y="0"/>
                  </a:moveTo>
                  <a:lnTo>
                    <a:pt x="0" y="0"/>
                  </a:lnTo>
                  <a:lnTo>
                    <a:pt x="0" y="452722"/>
                  </a:lnTo>
                  <a:lnTo>
                    <a:pt x="852729" y="452722"/>
                  </a:lnTo>
                  <a:lnTo>
                    <a:pt x="852729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1692572"/>
              <a:ext cx="1261837" cy="1261837"/>
            </a:xfrm>
            <a:custGeom>
              <a:avLst/>
              <a:gdLst/>
              <a:ahLst/>
              <a:cxnLst/>
              <a:rect r="r" b="b" t="t" l="l"/>
              <a:pathLst>
                <a:path h="1261837" w="1261837">
                  <a:moveTo>
                    <a:pt x="0" y="0"/>
                  </a:moveTo>
                  <a:lnTo>
                    <a:pt x="1261837" y="0"/>
                  </a:lnTo>
                  <a:lnTo>
                    <a:pt x="1261837" y="1261837"/>
                  </a:lnTo>
                  <a:lnTo>
                    <a:pt x="0" y="1261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3881509"/>
              <a:ext cx="1261837" cy="1261837"/>
            </a:xfrm>
            <a:custGeom>
              <a:avLst/>
              <a:gdLst/>
              <a:ahLst/>
              <a:cxnLst/>
              <a:rect r="r" b="b" t="t" l="l"/>
              <a:pathLst>
                <a:path h="1261837" w="1261837">
                  <a:moveTo>
                    <a:pt x="0" y="0"/>
                  </a:moveTo>
                  <a:lnTo>
                    <a:pt x="1261837" y="0"/>
                  </a:lnTo>
                  <a:lnTo>
                    <a:pt x="1261837" y="1261837"/>
                  </a:lnTo>
                  <a:lnTo>
                    <a:pt x="0" y="1261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189904" y="1946266"/>
              <a:ext cx="831230" cy="678242"/>
            </a:xfrm>
            <a:custGeom>
              <a:avLst/>
              <a:gdLst/>
              <a:ahLst/>
              <a:cxnLst/>
              <a:rect r="r" b="b" t="t" l="l"/>
              <a:pathLst>
                <a:path h="678242" w="831230">
                  <a:moveTo>
                    <a:pt x="0" y="0"/>
                  </a:moveTo>
                  <a:lnTo>
                    <a:pt x="831229" y="0"/>
                  </a:lnTo>
                  <a:lnTo>
                    <a:pt x="831229" y="678242"/>
                  </a:lnTo>
                  <a:lnTo>
                    <a:pt x="0" y="678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29996" t="0" r="-15452" b="-3365"/>
              </a:stretch>
            </a:blip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2776915"/>
              <a:ext cx="1261837" cy="1261837"/>
            </a:xfrm>
            <a:custGeom>
              <a:avLst/>
              <a:gdLst/>
              <a:ahLst/>
              <a:cxnLst/>
              <a:rect r="r" b="b" t="t" l="l"/>
              <a:pathLst>
                <a:path h="1261837" w="1261837">
                  <a:moveTo>
                    <a:pt x="0" y="0"/>
                  </a:moveTo>
                  <a:lnTo>
                    <a:pt x="1261837" y="0"/>
                  </a:lnTo>
                  <a:lnTo>
                    <a:pt x="1261837" y="1261837"/>
                  </a:lnTo>
                  <a:lnTo>
                    <a:pt x="0" y="1261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103837" y="3057122"/>
              <a:ext cx="977964" cy="748804"/>
            </a:xfrm>
            <a:custGeom>
              <a:avLst/>
              <a:gdLst/>
              <a:ahLst/>
              <a:cxnLst/>
              <a:rect r="r" b="b" t="t" l="l"/>
              <a:pathLst>
                <a:path h="748804" w="977964">
                  <a:moveTo>
                    <a:pt x="0" y="0"/>
                  </a:moveTo>
                  <a:lnTo>
                    <a:pt x="977963" y="0"/>
                  </a:lnTo>
                  <a:lnTo>
                    <a:pt x="977963" y="748804"/>
                  </a:lnTo>
                  <a:lnTo>
                    <a:pt x="0" y="748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220076" y="4146344"/>
              <a:ext cx="801057" cy="679889"/>
            </a:xfrm>
            <a:custGeom>
              <a:avLst/>
              <a:gdLst/>
              <a:ahLst/>
              <a:cxnLst/>
              <a:rect r="r" b="b" t="t" l="l"/>
              <a:pathLst>
                <a:path h="679889" w="801057">
                  <a:moveTo>
                    <a:pt x="0" y="0"/>
                  </a:moveTo>
                  <a:lnTo>
                    <a:pt x="801057" y="0"/>
                  </a:lnTo>
                  <a:lnTo>
                    <a:pt x="801057" y="679889"/>
                  </a:lnTo>
                  <a:lnTo>
                    <a:pt x="0" y="679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5682" t="-11769" r="-27938" b="-496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 rot="0">
              <a:off x="1328705" y="839279"/>
              <a:ext cx="9618860" cy="811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22"/>
                </a:lnSpc>
              </a:pPr>
              <a:r>
                <a:rPr lang="en-US" sz="1731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ECOMORPHOLOGY</a:t>
              </a:r>
              <a:r>
                <a:rPr lang="en-US" sz="17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 Links fish body shape to its ecological role and habitat use.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1328705" y="3006699"/>
              <a:ext cx="9618860" cy="754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2"/>
                </a:lnSpc>
              </a:pPr>
              <a:r>
                <a:rPr lang="en-US" sz="1631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OTOLITH MORPHOLOGY</a:t>
              </a:r>
              <a:r>
                <a:rPr lang="en-US" sz="16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 Analyzes otolith shapes (tiny ear bones in fish) with AI to identify species and track populations.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1328705" y="4087578"/>
              <a:ext cx="9618860" cy="754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2"/>
                </a:lnSpc>
              </a:pPr>
              <a:r>
                <a:rPr lang="en-US" sz="1631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ENVIRONMENTAL DNA (E-DNA)</a:t>
              </a:r>
              <a:r>
                <a:rPr lang="en-US" sz="16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 Detects hidden marine species from water samples non-invasively.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1328705" y="1898641"/>
              <a:ext cx="9618860" cy="754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2"/>
                </a:lnSpc>
              </a:pPr>
              <a:r>
                <a:rPr lang="en-US" sz="1631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FISH TAXONOMY</a:t>
              </a:r>
              <a:r>
                <a:rPr lang="en-US" sz="163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 Classifies and organizes fish species using morphological and genetic data.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25000"/>
            <a:ext cx="18287999" cy="754856"/>
            <a:chOff x="0" y="0"/>
            <a:chExt cx="24383999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25000"/>
            <a:ext cx="4267200" cy="561976"/>
            <a:chOff x="0" y="0"/>
            <a:chExt cx="5689600" cy="7493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25000"/>
            <a:ext cx="4806000" cy="561976"/>
            <a:chOff x="0" y="0"/>
            <a:chExt cx="6408000" cy="7493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49301"/>
            </a:xfrm>
            <a:custGeom>
              <a:avLst/>
              <a:gdLst/>
              <a:ahLst/>
              <a:cxnLst/>
              <a:rect r="r" b="b" t="t" l="l"/>
              <a:pathLst>
                <a:path h="749301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06625" y="0"/>
            <a:ext cx="3313652" cy="1684306"/>
            <a:chOff x="0" y="0"/>
            <a:chExt cx="4418203" cy="2245741"/>
          </a:xfrm>
        </p:grpSpPr>
        <p:sp>
          <p:nvSpPr>
            <p:cNvPr name="Freeform 11" id="11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0"/>
            <a:ext cx="1681830" cy="1681830"/>
          </a:xfrm>
          <a:custGeom>
            <a:avLst/>
            <a:gdLst/>
            <a:ahLst/>
            <a:cxnLst/>
            <a:rect r="r" b="b" t="t" l="l"/>
            <a:pathLst>
              <a:path h="1681830" w="1681830">
                <a:moveTo>
                  <a:pt x="0" y="0"/>
                </a:moveTo>
                <a:lnTo>
                  <a:pt x="1681830" y="0"/>
                </a:lnTo>
                <a:lnTo>
                  <a:pt x="1681830" y="1681830"/>
                </a:lnTo>
                <a:lnTo>
                  <a:pt x="0" y="1681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51468" y="248256"/>
            <a:ext cx="13505937" cy="1495713"/>
            <a:chOff x="0" y="0"/>
            <a:chExt cx="26197794" cy="29012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197793" cy="2901270"/>
            </a:xfrm>
            <a:custGeom>
              <a:avLst/>
              <a:gdLst/>
              <a:ahLst/>
              <a:cxnLst/>
              <a:rect r="r" b="b" t="t" l="l"/>
              <a:pathLst>
                <a:path h="2901270" w="26197793">
                  <a:moveTo>
                    <a:pt x="0" y="0"/>
                  </a:moveTo>
                  <a:lnTo>
                    <a:pt x="26197793" y="0"/>
                  </a:lnTo>
                  <a:lnTo>
                    <a:pt x="26197793" y="2901270"/>
                  </a:lnTo>
                  <a:lnTo>
                    <a:pt x="0" y="2901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6197794" cy="297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b="true" sz="35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SPAARK – UNIFYING MARINE </a:t>
              </a:r>
              <a:r>
                <a:rPr lang="en-US" b="true" sz="35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DATA, POWERING      SUSTAINABLE OCEANS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9266" y="1696343"/>
            <a:ext cx="8225171" cy="7761982"/>
            <a:chOff x="0" y="0"/>
            <a:chExt cx="10966895" cy="1034930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966895" cy="10349309"/>
              <a:chOff x="0" y="0"/>
              <a:chExt cx="2204500" cy="208035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04500" cy="2080357"/>
              </a:xfrm>
              <a:custGeom>
                <a:avLst/>
                <a:gdLst/>
                <a:ahLst/>
                <a:cxnLst/>
                <a:rect r="r" b="b" t="t" l="l"/>
                <a:pathLst>
                  <a:path h="2080357" w="2204500">
                    <a:moveTo>
                      <a:pt x="8471" y="0"/>
                    </a:moveTo>
                    <a:lnTo>
                      <a:pt x="2196029" y="0"/>
                    </a:lnTo>
                    <a:cubicBezTo>
                      <a:pt x="2200708" y="0"/>
                      <a:pt x="2204500" y="3793"/>
                      <a:pt x="2204500" y="8471"/>
                    </a:cubicBezTo>
                    <a:lnTo>
                      <a:pt x="2204500" y="2071886"/>
                    </a:lnTo>
                    <a:cubicBezTo>
                      <a:pt x="2204500" y="2076564"/>
                      <a:pt x="2200708" y="2080357"/>
                      <a:pt x="2196029" y="2080357"/>
                    </a:cubicBezTo>
                    <a:lnTo>
                      <a:pt x="8471" y="2080357"/>
                    </a:lnTo>
                    <a:cubicBezTo>
                      <a:pt x="3793" y="2080357"/>
                      <a:pt x="0" y="2076564"/>
                      <a:pt x="0" y="2071886"/>
                    </a:cubicBezTo>
                    <a:lnTo>
                      <a:pt x="0" y="8471"/>
                    </a:lnTo>
                    <a:cubicBezTo>
                      <a:pt x="0" y="3793"/>
                      <a:pt x="3793" y="0"/>
                      <a:pt x="84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2204500" cy="2099407"/>
              </a:xfrm>
              <a:prstGeom prst="rect">
                <a:avLst/>
              </a:prstGeom>
            </p:spPr>
            <p:txBody>
              <a:bodyPr anchor="ctr" rtlCol="false" tIns="49920" lIns="49920" bIns="49920" rIns="49920"/>
              <a:lstStyle/>
              <a:p>
                <a:pPr algn="just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5460" y="634682"/>
              <a:ext cx="10632185" cy="9571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367031" indent="-183515" lvl="1">
                <a:lnSpc>
                  <a:spcPts val="2720"/>
                </a:lnSpc>
                <a:buFont typeface="Arial"/>
                <a:buChar char="•"/>
              </a:pPr>
              <a:r>
                <a:rPr lang="en-US" b="true" sz="1700" spc="17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Preparation and I</a:t>
              </a:r>
              <a:r>
                <a:rPr lang="en-US" b="true" sz="1700" spc="17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ngestion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Use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clustering techniques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to organize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unstructured heterogeneous data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from multiple sources,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ingest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via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automated data pipelines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and store in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flexible hybrid storage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 If data is already structured, proceed directly.</a:t>
              </a:r>
            </a:p>
            <a:p>
              <a:pPr algn="just" marL="367031" indent="-183515" lvl="1">
                <a:lnSpc>
                  <a:spcPts val="2720"/>
                </a:lnSpc>
                <a:buFont typeface="Arial"/>
                <a:buChar char="•"/>
              </a:pPr>
              <a:r>
                <a:rPr lang="en-US" b="true" sz="1700" spc="17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Identification and Metadata Tagging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Apply a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 engine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leveraging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prior research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to tag data with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standardized metadata formats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(e.g., Darwin Core, CF conventions).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Define access points for data providers, analysts, and researchers.</a:t>
              </a:r>
            </a:p>
            <a:p>
              <a:pPr algn="just" marL="367031" indent="-183515" lvl="1">
                <a:lnSpc>
                  <a:spcPts val="2720"/>
                </a:lnSpc>
                <a:buFont typeface="Arial"/>
                <a:buChar char="•"/>
              </a:pPr>
              <a:r>
                <a:rPr lang="en-US" b="true" sz="1700" spc="17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Processing and Unification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Clean, standardise, and unify ingested data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across disciplines to create a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seamless, interoperable dataset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for advanced analysis.</a:t>
              </a:r>
            </a:p>
            <a:p>
              <a:pPr algn="just" marL="367031" indent="-183515" lvl="1">
                <a:lnSpc>
                  <a:spcPts val="2720"/>
                </a:lnSpc>
                <a:buFont typeface="Arial"/>
                <a:buChar char="•"/>
              </a:pPr>
              <a:r>
                <a:rPr lang="en-US" b="true" sz="1700" spc="17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Advanced AI Analytics</a:t>
              </a:r>
              <a:r>
                <a:rPr lang="en-US" sz="1700" spc="17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Deploy AI m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odels for taxonomic classification, otolith morphology via CNN, and eDNA species detection to extract insights on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biodiversity and ecosystem health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just" marL="367031" indent="-183515" lvl="1">
                <a:lnSpc>
                  <a:spcPts val="2720"/>
                </a:lnSpc>
                <a:buFont typeface="Arial"/>
                <a:buChar char="•"/>
              </a:pPr>
              <a:r>
                <a:rPr lang="en-US" b="true" sz="1700" spc="17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Visualization and APIs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Provide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interactive dashboards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and robust APIs enabling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multi-institutional access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real-time visualization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and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 scalability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just" marL="367031" indent="-183515" lvl="1">
                <a:lnSpc>
                  <a:spcPts val="2720"/>
                </a:lnSpc>
                <a:buFont typeface="Arial"/>
                <a:buChar char="•"/>
              </a:pPr>
              <a:r>
                <a:rPr lang="en-US" b="true" sz="1700" spc="17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Focus on Upgradability and Collaboration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Design modular,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containerized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architecture with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upgradable code and APIs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to enable seamless </a:t>
              </a:r>
              <a:r>
                <a:rPr lang="en-US" b="true" sz="1700" spc="1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integration of new data types</a:t>
              </a:r>
              <a:r>
                <a:rPr lang="en-US" sz="1700" spc="1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and research while supporting multiple centers.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751475" y="-19050"/>
              <a:ext cx="5463945" cy="565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b="true" sz="27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472535" y="1729681"/>
            <a:ext cx="9505177" cy="5347224"/>
            <a:chOff x="0" y="0"/>
            <a:chExt cx="12673569" cy="7129631"/>
          </a:xfrm>
        </p:grpSpPr>
        <p:sp>
          <p:nvSpPr>
            <p:cNvPr name="AutoShape 23" id="23"/>
            <p:cNvSpPr/>
            <p:nvPr/>
          </p:nvSpPr>
          <p:spPr>
            <a:xfrm>
              <a:off x="4966208" y="6557629"/>
              <a:ext cx="1822401" cy="0"/>
            </a:xfrm>
            <a:prstGeom prst="line">
              <a:avLst/>
            </a:prstGeom>
            <a:ln cap="flat" w="38100">
              <a:solidFill>
                <a:srgbClr val="1E707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0"/>
              <a:ext cx="12673569" cy="6583029"/>
              <a:chOff x="0" y="0"/>
              <a:chExt cx="2547566" cy="132328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47566" cy="1323282"/>
              </a:xfrm>
              <a:custGeom>
                <a:avLst/>
                <a:gdLst/>
                <a:ahLst/>
                <a:cxnLst/>
                <a:rect r="r" b="b" t="t" l="l"/>
                <a:pathLst>
                  <a:path h="1323282" w="2547566">
                    <a:moveTo>
                      <a:pt x="7330" y="0"/>
                    </a:moveTo>
                    <a:lnTo>
                      <a:pt x="2540235" y="0"/>
                    </a:lnTo>
                    <a:cubicBezTo>
                      <a:pt x="2544284" y="0"/>
                      <a:pt x="2547566" y="3282"/>
                      <a:pt x="2547566" y="7330"/>
                    </a:cubicBezTo>
                    <a:lnTo>
                      <a:pt x="2547566" y="1315951"/>
                    </a:lnTo>
                    <a:cubicBezTo>
                      <a:pt x="2547566" y="1320000"/>
                      <a:pt x="2544284" y="1323282"/>
                      <a:pt x="2540235" y="1323282"/>
                    </a:cubicBezTo>
                    <a:lnTo>
                      <a:pt x="7330" y="1323282"/>
                    </a:lnTo>
                    <a:cubicBezTo>
                      <a:pt x="5386" y="1323282"/>
                      <a:pt x="3522" y="1322509"/>
                      <a:pt x="2147" y="1321134"/>
                    </a:cubicBezTo>
                    <a:cubicBezTo>
                      <a:pt x="772" y="1319760"/>
                      <a:pt x="0" y="1317895"/>
                      <a:pt x="0" y="1315951"/>
                    </a:cubicBezTo>
                    <a:lnTo>
                      <a:pt x="0" y="7330"/>
                    </a:lnTo>
                    <a:cubicBezTo>
                      <a:pt x="0" y="3282"/>
                      <a:pt x="3282" y="0"/>
                      <a:pt x="73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2547566" cy="1342331"/>
              </a:xfrm>
              <a:prstGeom prst="rect">
                <a:avLst/>
              </a:prstGeom>
            </p:spPr>
            <p:txBody>
              <a:bodyPr anchor="ctr" rtlCol="false" tIns="49920" lIns="49920" bIns="49920" rIns="49920"/>
              <a:lstStyle/>
              <a:p>
                <a:pPr algn="just">
                  <a:lnSpc>
                    <a:spcPts val="2159"/>
                  </a:lnSpc>
                </a:pPr>
              </a:p>
            </p:txBody>
          </p:sp>
        </p:grpSp>
        <p:pic>
          <p:nvPicPr>
            <p:cNvPr name="Picture 27" id="27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-1795463">
              <a:off x="3359982" y="458893"/>
              <a:ext cx="6240310" cy="6240310"/>
            </a:xfrm>
            <a:prstGeom prst="rect">
              <a:avLst/>
            </a:prstGeom>
          </p:spPr>
        </p:pic>
        <p:sp>
          <p:nvSpPr>
            <p:cNvPr name="AutoShape 28" id="28"/>
            <p:cNvSpPr/>
            <p:nvPr/>
          </p:nvSpPr>
          <p:spPr>
            <a:xfrm flipV="true">
              <a:off x="6723287" y="569371"/>
              <a:ext cx="572106" cy="396073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9" id="29"/>
            <p:cNvSpPr txBox="true"/>
            <p:nvPr/>
          </p:nvSpPr>
          <p:spPr>
            <a:xfrm rot="0">
              <a:off x="2452717" y="3246199"/>
              <a:ext cx="8025185" cy="492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b="true" sz="24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APPROACH</a:t>
              </a:r>
            </a:p>
          </p:txBody>
        </p:sp>
        <p:sp>
          <p:nvSpPr>
            <p:cNvPr name="AutoShape 30" id="30"/>
            <p:cNvSpPr/>
            <p:nvPr/>
          </p:nvSpPr>
          <p:spPr>
            <a:xfrm>
              <a:off x="7295393" y="569371"/>
              <a:ext cx="1833074" cy="7962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8720929" y="2243857"/>
              <a:ext cx="818671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2" id="32"/>
            <p:cNvSpPr txBox="true"/>
            <p:nvPr/>
          </p:nvSpPr>
          <p:spPr>
            <a:xfrm rot="0">
              <a:off x="535252" y="4900079"/>
              <a:ext cx="2535521" cy="835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en-US" sz="1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 Advanced AI Analytics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Otolith Morphology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eDNA species detection</a:t>
              </a:r>
            </a:p>
          </p:txBody>
        </p:sp>
        <p:sp>
          <p:nvSpPr>
            <p:cNvPr name="AutoShape 33" id="33"/>
            <p:cNvSpPr/>
            <p:nvPr/>
          </p:nvSpPr>
          <p:spPr>
            <a:xfrm>
              <a:off x="2372260" y="4838040"/>
              <a:ext cx="1841686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4" id="34"/>
            <p:cNvSpPr txBox="true"/>
            <p:nvPr/>
          </p:nvSpPr>
          <p:spPr>
            <a:xfrm rot="0">
              <a:off x="471082" y="3104068"/>
              <a:ext cx="2535521" cy="835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en-US" sz="1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 Visualization and APIs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Interactive dashboards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Real-time Visualization</a:t>
              </a:r>
            </a:p>
          </p:txBody>
        </p:sp>
        <p:sp>
          <p:nvSpPr>
            <p:cNvPr name="AutoShape 35" id="35"/>
            <p:cNvSpPr/>
            <p:nvPr/>
          </p:nvSpPr>
          <p:spPr>
            <a:xfrm>
              <a:off x="8667077" y="4891508"/>
              <a:ext cx="935793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2411947" y="6190222"/>
              <a:ext cx="4055491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>
              <a:off x="1738843" y="3939728"/>
              <a:ext cx="633417" cy="898312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1803012" y="5801252"/>
              <a:ext cx="608934" cy="390982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358132" y="284202"/>
              <a:ext cx="4267517" cy="111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en-US" sz="1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6. Focus on Upgradability and Collaboration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Modular, Containerized architecture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Upgradable code &amp; APIs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Integration of new datatypes</a:t>
              </a:r>
            </a:p>
          </p:txBody>
        </p:sp>
        <p:sp>
          <p:nvSpPr>
            <p:cNvPr name="AutoShape 40" id="40"/>
            <p:cNvSpPr/>
            <p:nvPr/>
          </p:nvSpPr>
          <p:spPr>
            <a:xfrm>
              <a:off x="2491891" y="1399262"/>
              <a:ext cx="395938" cy="844595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2887829" y="2243857"/>
              <a:ext cx="1326117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7645079" y="3939728"/>
              <a:ext cx="784899" cy="859950"/>
            </a:xfrm>
            <a:custGeom>
              <a:avLst/>
              <a:gdLst/>
              <a:ahLst/>
              <a:cxnLst/>
              <a:rect r="r" b="b" t="t" l="l"/>
              <a:pathLst>
                <a:path h="859950" w="784899">
                  <a:moveTo>
                    <a:pt x="0" y="0"/>
                  </a:moveTo>
                  <a:lnTo>
                    <a:pt x="784900" y="0"/>
                  </a:lnTo>
                  <a:lnTo>
                    <a:pt x="784900" y="859950"/>
                  </a:lnTo>
                  <a:lnTo>
                    <a:pt x="0" y="859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5877409" y="1017237"/>
              <a:ext cx="1219905" cy="1226620"/>
            </a:xfrm>
            <a:custGeom>
              <a:avLst/>
              <a:gdLst/>
              <a:ahLst/>
              <a:cxnLst/>
              <a:rect r="r" b="b" t="t" l="l"/>
              <a:pathLst>
                <a:path h="1226620" w="1219905">
                  <a:moveTo>
                    <a:pt x="0" y="0"/>
                  </a:moveTo>
                  <a:lnTo>
                    <a:pt x="1219905" y="0"/>
                  </a:lnTo>
                  <a:lnTo>
                    <a:pt x="1219905" y="1226620"/>
                  </a:lnTo>
                  <a:lnTo>
                    <a:pt x="0" y="1226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7240073" y="1901060"/>
              <a:ext cx="1888394" cy="1361631"/>
            </a:xfrm>
            <a:custGeom>
              <a:avLst/>
              <a:gdLst/>
              <a:ahLst/>
              <a:cxnLst/>
              <a:rect r="r" b="b" t="t" l="l"/>
              <a:pathLst>
                <a:path h="1361631" w="1888394">
                  <a:moveTo>
                    <a:pt x="0" y="0"/>
                  </a:moveTo>
                  <a:lnTo>
                    <a:pt x="1888394" y="0"/>
                  </a:lnTo>
                  <a:lnTo>
                    <a:pt x="1888394" y="1361631"/>
                  </a:lnTo>
                  <a:lnTo>
                    <a:pt x="0" y="1361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5690546" y="4850247"/>
              <a:ext cx="1549527" cy="1059489"/>
            </a:xfrm>
            <a:custGeom>
              <a:avLst/>
              <a:gdLst/>
              <a:ahLst/>
              <a:cxnLst/>
              <a:rect r="r" b="b" t="t" l="l"/>
              <a:pathLst>
                <a:path h="1059489" w="1549527">
                  <a:moveTo>
                    <a:pt x="0" y="0"/>
                  </a:moveTo>
                  <a:lnTo>
                    <a:pt x="1549527" y="0"/>
                  </a:lnTo>
                  <a:lnTo>
                    <a:pt x="1549527" y="1059489"/>
                  </a:lnTo>
                  <a:lnTo>
                    <a:pt x="0" y="1059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3646708">
              <a:off x="4097237" y="4062945"/>
              <a:ext cx="1398597" cy="1016993"/>
            </a:xfrm>
            <a:custGeom>
              <a:avLst/>
              <a:gdLst/>
              <a:ahLst/>
              <a:cxnLst/>
              <a:rect r="r" b="b" t="t" l="l"/>
              <a:pathLst>
                <a:path h="1016993" w="1398597">
                  <a:moveTo>
                    <a:pt x="0" y="0"/>
                  </a:moveTo>
                  <a:lnTo>
                    <a:pt x="1398597" y="0"/>
                  </a:lnTo>
                  <a:lnTo>
                    <a:pt x="1398597" y="1016993"/>
                  </a:lnTo>
                  <a:lnTo>
                    <a:pt x="0" y="1016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9539599" y="1667277"/>
              <a:ext cx="3066275" cy="111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en-US" sz="1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Data Identification and Metadata Tagging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Reference Engine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 Points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9602869" y="4314928"/>
              <a:ext cx="2885740" cy="111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en-US" sz="1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Data Processing and Unification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Unification of Ingested Data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Interoperable dataset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9128467" y="140453"/>
              <a:ext cx="3477408" cy="835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59080" indent="-129540" lvl="1">
                <a:lnSpc>
                  <a:spcPts val="1680"/>
                </a:lnSpc>
                <a:buAutoNum type="arabicPeriod" startAt="1"/>
              </a:pPr>
              <a:r>
                <a:rPr lang="en-US" b="true" sz="1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Preparation and Ingestion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Automated Data Pipelines</a:t>
              </a:r>
            </a:p>
            <a:p>
              <a:pPr algn="l" marL="259080" indent="-129540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Flexible hybrid storage</a:t>
              </a:r>
            </a:p>
          </p:txBody>
        </p:sp>
        <p:sp>
          <p:nvSpPr>
            <p:cNvPr name="Freeform 50" id="50"/>
            <p:cNvSpPr/>
            <p:nvPr/>
          </p:nvSpPr>
          <p:spPr>
            <a:xfrm flipH="false" flipV="false" rot="-3603365">
              <a:off x="3871693" y="2138360"/>
              <a:ext cx="2004269" cy="1017166"/>
            </a:xfrm>
            <a:custGeom>
              <a:avLst/>
              <a:gdLst/>
              <a:ahLst/>
              <a:cxnLst/>
              <a:rect r="r" b="b" t="t" l="l"/>
              <a:pathLst>
                <a:path h="1017166" w="2004269">
                  <a:moveTo>
                    <a:pt x="2004269" y="1017166"/>
                  </a:moveTo>
                  <a:lnTo>
                    <a:pt x="0" y="1017166"/>
                  </a:lnTo>
                  <a:lnTo>
                    <a:pt x="0" y="0"/>
                  </a:lnTo>
                  <a:lnTo>
                    <a:pt x="2004269" y="0"/>
                  </a:lnTo>
                  <a:lnTo>
                    <a:pt x="2004269" y="1017166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AutoShape 51" id="51"/>
            <p:cNvSpPr/>
            <p:nvPr/>
          </p:nvSpPr>
          <p:spPr>
            <a:xfrm>
              <a:off x="2967233" y="6563979"/>
              <a:ext cx="8656320" cy="0"/>
            </a:xfrm>
            <a:prstGeom prst="line">
              <a:avLst/>
            </a:prstGeom>
            <a:ln cap="flat" w="38100">
              <a:solidFill>
                <a:srgbClr val="1E707A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14655795" y="5054583"/>
            <a:ext cx="278448" cy="351253"/>
          </a:xfrm>
          <a:custGeom>
            <a:avLst/>
            <a:gdLst/>
            <a:ahLst/>
            <a:cxnLst/>
            <a:rect r="r" b="b" t="t" l="l"/>
            <a:pathLst>
              <a:path h="351253" w="278448">
                <a:moveTo>
                  <a:pt x="0" y="0"/>
                </a:moveTo>
                <a:lnTo>
                  <a:pt x="278448" y="0"/>
                </a:lnTo>
                <a:lnTo>
                  <a:pt x="278448" y="351253"/>
                </a:lnTo>
                <a:lnTo>
                  <a:pt x="0" y="351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3" id="53"/>
          <p:cNvGrpSpPr/>
          <p:nvPr/>
        </p:nvGrpSpPr>
        <p:grpSpPr>
          <a:xfrm rot="0">
            <a:off x="8472535" y="6717897"/>
            <a:ext cx="9505177" cy="2740428"/>
            <a:chOff x="0" y="0"/>
            <a:chExt cx="12673569" cy="3653903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12673569" cy="3653903"/>
              <a:chOff x="0" y="0"/>
              <a:chExt cx="4418086" cy="127377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4418085" cy="1273774"/>
              </a:xfrm>
              <a:custGeom>
                <a:avLst/>
                <a:gdLst/>
                <a:ahLst/>
                <a:cxnLst/>
                <a:rect r="r" b="b" t="t" l="l"/>
                <a:pathLst>
                  <a:path h="1273774" w="4418085">
                    <a:moveTo>
                      <a:pt x="7330" y="0"/>
                    </a:moveTo>
                    <a:lnTo>
                      <a:pt x="4410755" y="0"/>
                    </a:lnTo>
                    <a:cubicBezTo>
                      <a:pt x="4414803" y="0"/>
                      <a:pt x="4418085" y="3282"/>
                      <a:pt x="4418085" y="7330"/>
                    </a:cubicBezTo>
                    <a:lnTo>
                      <a:pt x="4418085" y="1266443"/>
                    </a:lnTo>
                    <a:cubicBezTo>
                      <a:pt x="4418085" y="1270492"/>
                      <a:pt x="4414803" y="1273774"/>
                      <a:pt x="4410755" y="1273774"/>
                    </a:cubicBezTo>
                    <a:lnTo>
                      <a:pt x="7330" y="1273774"/>
                    </a:lnTo>
                    <a:cubicBezTo>
                      <a:pt x="3282" y="1273774"/>
                      <a:pt x="0" y="1270492"/>
                      <a:pt x="0" y="1266443"/>
                    </a:cubicBezTo>
                    <a:lnTo>
                      <a:pt x="0" y="7330"/>
                    </a:lnTo>
                    <a:cubicBezTo>
                      <a:pt x="0" y="3282"/>
                      <a:pt x="3282" y="0"/>
                      <a:pt x="73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19050"/>
                <a:ext cx="4418086" cy="1292824"/>
              </a:xfrm>
              <a:prstGeom prst="rect">
                <a:avLst/>
              </a:prstGeom>
            </p:spPr>
            <p:txBody>
              <a:bodyPr anchor="ctr" rtlCol="false" tIns="28785" lIns="28785" bIns="28785" rIns="28785"/>
              <a:lstStyle/>
              <a:p>
                <a:pPr algn="just">
                  <a:lnSpc>
                    <a:spcPts val="215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52440" y="669145"/>
              <a:ext cx="2286000" cy="2857500"/>
              <a:chOff x="0" y="0"/>
              <a:chExt cx="451556" cy="564444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51556" cy="564444"/>
              </a:xfrm>
              <a:custGeom>
                <a:avLst/>
                <a:gdLst/>
                <a:ahLst/>
                <a:cxnLst/>
                <a:rect r="r" b="b" t="t" l="l"/>
                <a:pathLst>
                  <a:path h="564444" w="451556">
                    <a:moveTo>
                      <a:pt x="40640" y="0"/>
                    </a:moveTo>
                    <a:lnTo>
                      <a:pt x="410916" y="0"/>
                    </a:lnTo>
                    <a:cubicBezTo>
                      <a:pt x="433360" y="0"/>
                      <a:pt x="451556" y="18195"/>
                      <a:pt x="451556" y="40640"/>
                    </a:cubicBezTo>
                    <a:lnTo>
                      <a:pt x="451556" y="523804"/>
                    </a:lnTo>
                    <a:cubicBezTo>
                      <a:pt x="451556" y="534583"/>
                      <a:pt x="447274" y="544920"/>
                      <a:pt x="439652" y="552541"/>
                    </a:cubicBezTo>
                    <a:cubicBezTo>
                      <a:pt x="432031" y="560163"/>
                      <a:pt x="421694" y="564444"/>
                      <a:pt x="410916" y="564444"/>
                    </a:cubicBezTo>
                    <a:lnTo>
                      <a:pt x="40640" y="564444"/>
                    </a:lnTo>
                    <a:cubicBezTo>
                      <a:pt x="18195" y="564444"/>
                      <a:pt x="0" y="546249"/>
                      <a:pt x="0" y="523804"/>
                    </a:cubicBezTo>
                    <a:lnTo>
                      <a:pt x="0" y="40640"/>
                    </a:lnTo>
                    <a:cubicBezTo>
                      <a:pt x="0" y="18195"/>
                      <a:pt x="18195" y="0"/>
                      <a:pt x="40640" y="0"/>
                    </a:cubicBezTo>
                    <a:close/>
                  </a:path>
                </a:pathLst>
              </a:custGeom>
              <a:solidFill>
                <a:srgbClr val="D5EBEE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451556" cy="6025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2618283" y="669145"/>
              <a:ext cx="2286000" cy="2857500"/>
              <a:chOff x="0" y="0"/>
              <a:chExt cx="451556" cy="564444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451556" cy="564444"/>
              </a:xfrm>
              <a:custGeom>
                <a:avLst/>
                <a:gdLst/>
                <a:ahLst/>
                <a:cxnLst/>
                <a:rect r="r" b="b" t="t" l="l"/>
                <a:pathLst>
                  <a:path h="564444" w="451556">
                    <a:moveTo>
                      <a:pt x="40640" y="0"/>
                    </a:moveTo>
                    <a:lnTo>
                      <a:pt x="410916" y="0"/>
                    </a:lnTo>
                    <a:cubicBezTo>
                      <a:pt x="433360" y="0"/>
                      <a:pt x="451556" y="18195"/>
                      <a:pt x="451556" y="40640"/>
                    </a:cubicBezTo>
                    <a:lnTo>
                      <a:pt x="451556" y="523804"/>
                    </a:lnTo>
                    <a:cubicBezTo>
                      <a:pt x="451556" y="534583"/>
                      <a:pt x="447274" y="544920"/>
                      <a:pt x="439652" y="552541"/>
                    </a:cubicBezTo>
                    <a:cubicBezTo>
                      <a:pt x="432031" y="560163"/>
                      <a:pt x="421694" y="564444"/>
                      <a:pt x="410916" y="564444"/>
                    </a:cubicBezTo>
                    <a:lnTo>
                      <a:pt x="40640" y="564444"/>
                    </a:lnTo>
                    <a:cubicBezTo>
                      <a:pt x="18195" y="564444"/>
                      <a:pt x="0" y="546249"/>
                      <a:pt x="0" y="523804"/>
                    </a:cubicBezTo>
                    <a:lnTo>
                      <a:pt x="0" y="40640"/>
                    </a:lnTo>
                    <a:cubicBezTo>
                      <a:pt x="0" y="18195"/>
                      <a:pt x="18195" y="0"/>
                      <a:pt x="40640" y="0"/>
                    </a:cubicBezTo>
                    <a:close/>
                  </a:path>
                </a:pathLst>
              </a:custGeom>
              <a:solidFill>
                <a:srgbClr val="D5EBEE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451556" cy="6025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5082083" y="681845"/>
              <a:ext cx="2286000" cy="2857500"/>
              <a:chOff x="0" y="0"/>
              <a:chExt cx="451612" cy="564388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451612" cy="564388"/>
              </a:xfrm>
              <a:custGeom>
                <a:avLst/>
                <a:gdLst/>
                <a:ahLst/>
                <a:cxnLst/>
                <a:rect r="r" b="b" t="t" l="l"/>
                <a:pathLst>
                  <a:path h="564388" w="451612">
                    <a:moveTo>
                      <a:pt x="451612" y="40640"/>
                    </a:moveTo>
                    <a:lnTo>
                      <a:pt x="451612" y="523748"/>
                    </a:lnTo>
                    <a:cubicBezTo>
                      <a:pt x="451612" y="534526"/>
                      <a:pt x="447330" y="544863"/>
                      <a:pt x="439709" y="552485"/>
                    </a:cubicBezTo>
                    <a:cubicBezTo>
                      <a:pt x="432087" y="560106"/>
                      <a:pt x="421750" y="564388"/>
                      <a:pt x="410972" y="564388"/>
                    </a:cubicBezTo>
                    <a:lnTo>
                      <a:pt x="40640" y="564388"/>
                    </a:lnTo>
                    <a:cubicBezTo>
                      <a:pt x="18195" y="564388"/>
                      <a:pt x="0" y="546193"/>
                      <a:pt x="0" y="523748"/>
                    </a:cubicBezTo>
                    <a:lnTo>
                      <a:pt x="0" y="40640"/>
                    </a:lnTo>
                    <a:cubicBezTo>
                      <a:pt x="0" y="18195"/>
                      <a:pt x="18195" y="0"/>
                      <a:pt x="40640" y="0"/>
                    </a:cubicBezTo>
                    <a:lnTo>
                      <a:pt x="410972" y="0"/>
                    </a:lnTo>
                    <a:cubicBezTo>
                      <a:pt x="433417" y="0"/>
                      <a:pt x="451612" y="18195"/>
                      <a:pt x="451612" y="40640"/>
                    </a:cubicBezTo>
                    <a:close/>
                  </a:path>
                </a:pathLst>
              </a:custGeom>
              <a:solidFill>
                <a:srgbClr val="D5EBEE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451612" cy="6024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7545883" y="694545"/>
              <a:ext cx="2286000" cy="2857500"/>
              <a:chOff x="0" y="0"/>
              <a:chExt cx="451556" cy="564444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451556" cy="564444"/>
              </a:xfrm>
              <a:custGeom>
                <a:avLst/>
                <a:gdLst/>
                <a:ahLst/>
                <a:cxnLst/>
                <a:rect r="r" b="b" t="t" l="l"/>
                <a:pathLst>
                  <a:path h="564444" w="451556">
                    <a:moveTo>
                      <a:pt x="40640" y="0"/>
                    </a:moveTo>
                    <a:lnTo>
                      <a:pt x="410916" y="0"/>
                    </a:lnTo>
                    <a:cubicBezTo>
                      <a:pt x="433360" y="0"/>
                      <a:pt x="451556" y="18195"/>
                      <a:pt x="451556" y="40640"/>
                    </a:cubicBezTo>
                    <a:lnTo>
                      <a:pt x="451556" y="523804"/>
                    </a:lnTo>
                    <a:cubicBezTo>
                      <a:pt x="451556" y="534583"/>
                      <a:pt x="447274" y="544920"/>
                      <a:pt x="439652" y="552541"/>
                    </a:cubicBezTo>
                    <a:cubicBezTo>
                      <a:pt x="432031" y="560163"/>
                      <a:pt x="421694" y="564444"/>
                      <a:pt x="410916" y="564444"/>
                    </a:cubicBezTo>
                    <a:lnTo>
                      <a:pt x="40640" y="564444"/>
                    </a:lnTo>
                    <a:cubicBezTo>
                      <a:pt x="18195" y="564444"/>
                      <a:pt x="0" y="546249"/>
                      <a:pt x="0" y="523804"/>
                    </a:cubicBezTo>
                    <a:lnTo>
                      <a:pt x="0" y="40640"/>
                    </a:lnTo>
                    <a:cubicBezTo>
                      <a:pt x="0" y="18195"/>
                      <a:pt x="18195" y="0"/>
                      <a:pt x="40640" y="0"/>
                    </a:cubicBezTo>
                    <a:close/>
                  </a:path>
                </a:pathLst>
              </a:custGeom>
              <a:solidFill>
                <a:srgbClr val="D5EBEE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451556" cy="6025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10064437" y="694545"/>
              <a:ext cx="2286000" cy="2857500"/>
              <a:chOff x="0" y="0"/>
              <a:chExt cx="451556" cy="564444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451556" cy="564444"/>
              </a:xfrm>
              <a:custGeom>
                <a:avLst/>
                <a:gdLst/>
                <a:ahLst/>
                <a:cxnLst/>
                <a:rect r="r" b="b" t="t" l="l"/>
                <a:pathLst>
                  <a:path h="564444" w="451556">
                    <a:moveTo>
                      <a:pt x="40640" y="0"/>
                    </a:moveTo>
                    <a:lnTo>
                      <a:pt x="410916" y="0"/>
                    </a:lnTo>
                    <a:cubicBezTo>
                      <a:pt x="433360" y="0"/>
                      <a:pt x="451556" y="18195"/>
                      <a:pt x="451556" y="40640"/>
                    </a:cubicBezTo>
                    <a:lnTo>
                      <a:pt x="451556" y="523804"/>
                    </a:lnTo>
                    <a:cubicBezTo>
                      <a:pt x="451556" y="534583"/>
                      <a:pt x="447274" y="544920"/>
                      <a:pt x="439652" y="552541"/>
                    </a:cubicBezTo>
                    <a:cubicBezTo>
                      <a:pt x="432031" y="560163"/>
                      <a:pt x="421694" y="564444"/>
                      <a:pt x="410916" y="564444"/>
                    </a:cubicBezTo>
                    <a:lnTo>
                      <a:pt x="40640" y="564444"/>
                    </a:lnTo>
                    <a:cubicBezTo>
                      <a:pt x="18195" y="564444"/>
                      <a:pt x="0" y="546249"/>
                      <a:pt x="0" y="523804"/>
                    </a:cubicBezTo>
                    <a:lnTo>
                      <a:pt x="0" y="40640"/>
                    </a:lnTo>
                    <a:cubicBezTo>
                      <a:pt x="0" y="18195"/>
                      <a:pt x="18195" y="0"/>
                      <a:pt x="40640" y="0"/>
                    </a:cubicBezTo>
                    <a:close/>
                  </a:path>
                </a:pathLst>
              </a:custGeom>
              <a:solidFill>
                <a:srgbClr val="D5EBEE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451556" cy="6025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sp>
          <p:nvSpPr>
            <p:cNvPr name="TextBox 72" id="72"/>
            <p:cNvSpPr txBox="true"/>
            <p:nvPr/>
          </p:nvSpPr>
          <p:spPr>
            <a:xfrm rot="0">
              <a:off x="4847186" y="-42643"/>
              <a:ext cx="2979197" cy="610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80"/>
                </a:lnSpc>
              </a:pPr>
              <a:r>
                <a:rPr lang="en-US" b="true" sz="27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431928" y="777204"/>
              <a:ext cx="1727024" cy="415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b="true" sz="18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396136" y="1281345"/>
              <a:ext cx="2107847" cy="2046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9"/>
                </a:lnSpc>
              </a:pPr>
              <a:r>
                <a:rPr lang="en-US" sz="144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React</a:t>
              </a:r>
            </a:p>
            <a:p>
              <a:pPr algn="l">
                <a:lnSpc>
                  <a:spcPts val="2029"/>
                </a:lnSpc>
              </a:pPr>
              <a:r>
                <a:rPr lang="en-US" sz="144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Tailwind CSS</a:t>
              </a:r>
            </a:p>
            <a:p>
              <a:pPr algn="l">
                <a:lnSpc>
                  <a:spcPts val="2029"/>
                </a:lnSpc>
              </a:pPr>
              <a:r>
                <a:rPr lang="en-US" sz="144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Mapbox / Kepler.gl</a:t>
              </a:r>
            </a:p>
            <a:p>
              <a:pPr algn="l">
                <a:lnSpc>
                  <a:spcPts val="2029"/>
                </a:lnSpc>
              </a:pPr>
              <a:r>
                <a:rPr lang="en-US" sz="144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Plotly / D3.js</a:t>
              </a:r>
            </a:p>
            <a:p>
              <a:pPr algn="l">
                <a:lnSpc>
                  <a:spcPts val="2029"/>
                </a:lnSpc>
              </a:pP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2930617" y="777208"/>
              <a:ext cx="1661331" cy="415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b="true" sz="18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2925520" y="1375894"/>
              <a:ext cx="1351515" cy="1360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30"/>
                </a:lnSpc>
              </a:pPr>
              <a:r>
                <a:rPr lang="en-US" sz="145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FastAPI </a:t>
              </a:r>
            </a:p>
            <a:p>
              <a:pPr algn="l">
                <a:lnSpc>
                  <a:spcPts val="2030"/>
                </a:lnSpc>
              </a:pPr>
              <a:r>
                <a:rPr lang="en-US" sz="145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Springboot</a:t>
              </a:r>
              <a:r>
                <a:rPr lang="en-US" sz="145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</a:p>
            <a:p>
              <a:pPr algn="l">
                <a:lnSpc>
                  <a:spcPts val="2030"/>
                </a:lnSpc>
              </a:pPr>
              <a:r>
                <a:rPr lang="en-US" sz="145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JAVA</a:t>
              </a:r>
            </a:p>
            <a:p>
              <a:pPr algn="l">
                <a:lnSpc>
                  <a:spcPts val="2030"/>
                </a:lnSpc>
              </a:pPr>
              <a:r>
                <a:rPr lang="en-US" sz="145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Spring AI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7644500" y="1505652"/>
              <a:ext cx="2143519" cy="2046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9"/>
                </a:lnSpc>
              </a:pPr>
              <a:r>
                <a:rPr lang="en-US" sz="144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PyTorch / TensorFlow</a:t>
              </a:r>
            </a:p>
            <a:p>
              <a:pPr algn="l">
                <a:lnSpc>
                  <a:spcPts val="2029"/>
                </a:lnSpc>
              </a:pPr>
              <a:r>
                <a:rPr lang="en-US" sz="144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DADA2 / OBITools</a:t>
              </a:r>
            </a:p>
            <a:p>
              <a:pPr algn="l">
                <a:lnSpc>
                  <a:spcPts val="2029"/>
                </a:lnSpc>
              </a:pPr>
              <a:r>
                <a:rPr lang="en-US" sz="144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BLAST / DIAMOND</a:t>
              </a:r>
            </a:p>
            <a:p>
              <a:pPr algn="l">
                <a:lnSpc>
                  <a:spcPts val="2029"/>
                </a:lnSpc>
              </a:pP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7603418" y="759686"/>
              <a:ext cx="2170929" cy="690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en-US" b="true" sz="18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/ ML / Bioinformatics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0">
              <a:off x="5485610" y="853408"/>
              <a:ext cx="1478946" cy="343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45"/>
                </a:lnSpc>
              </a:pPr>
              <a:r>
                <a:rPr lang="en-US" b="true" sz="1800" spc="125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Storage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10349377" y="778736"/>
              <a:ext cx="1691545" cy="635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45"/>
                </a:lnSpc>
              </a:pPr>
              <a:r>
                <a:rPr lang="en-US" b="true" sz="1800" spc="125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Pipelining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5323703" y="1437866"/>
              <a:ext cx="1802759" cy="1970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3"/>
                </a:lnSpc>
              </a:pPr>
              <a:r>
                <a:rPr lang="en-US" b="true" sz="144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</a:t>
              </a:r>
              <a:r>
                <a:rPr lang="en-US" b="true" sz="144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ostgreSQL + PostGIS</a:t>
              </a:r>
            </a:p>
            <a:p>
              <a:pPr algn="l">
                <a:lnSpc>
                  <a:spcPts val="2023"/>
                </a:lnSpc>
              </a:pPr>
              <a:r>
                <a:rPr lang="en-US" b="true" sz="144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TimescaleDB</a:t>
              </a:r>
            </a:p>
            <a:p>
              <a:pPr algn="l">
                <a:lnSpc>
                  <a:spcPts val="2023"/>
                </a:lnSpc>
              </a:pPr>
              <a:r>
                <a:rPr lang="en-US" b="true" sz="144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S3 Object Store</a:t>
              </a:r>
            </a:p>
            <a:p>
              <a:pPr algn="l">
                <a:lnSpc>
                  <a:spcPts val="2023"/>
                </a:lnSpc>
              </a:pP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10180008" y="1561343"/>
              <a:ext cx="2030284" cy="16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001"/>
                </a:lnSpc>
              </a:pPr>
              <a:r>
                <a:rPr lang="en-US" b="true" sz="142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Apache Airflow / Prefect</a:t>
              </a:r>
            </a:p>
            <a:p>
              <a:pPr algn="just">
                <a:lnSpc>
                  <a:spcPts val="2001"/>
                </a:lnSpc>
              </a:pPr>
              <a:r>
                <a:rPr lang="en-US" b="true" sz="142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Pandas / Dask / xarray</a:t>
              </a:r>
            </a:p>
            <a:p>
              <a:pPr algn="just">
                <a:lnSpc>
                  <a:spcPts val="2001"/>
                </a:lnSpc>
              </a:pPr>
              <a:r>
                <a:rPr lang="en-US" b="true" sz="142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Biopython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25000"/>
            <a:ext cx="18287999" cy="754856"/>
            <a:chOff x="0" y="0"/>
            <a:chExt cx="24383999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25000"/>
            <a:ext cx="4267200" cy="561976"/>
            <a:chOff x="0" y="0"/>
            <a:chExt cx="5689600" cy="7493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25000"/>
            <a:ext cx="4806000" cy="561976"/>
            <a:chOff x="0" y="0"/>
            <a:chExt cx="6408000" cy="7493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49301"/>
            </a:xfrm>
            <a:custGeom>
              <a:avLst/>
              <a:gdLst/>
              <a:ahLst/>
              <a:cxnLst/>
              <a:rect r="r" b="b" t="t" l="l"/>
              <a:pathLst>
                <a:path h="749301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06625" y="0"/>
            <a:ext cx="3313652" cy="1684306"/>
            <a:chOff x="0" y="0"/>
            <a:chExt cx="4418203" cy="2245741"/>
          </a:xfrm>
        </p:grpSpPr>
        <p:sp>
          <p:nvSpPr>
            <p:cNvPr name="Freeform 11" id="11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0"/>
            <a:ext cx="1681830" cy="1681830"/>
          </a:xfrm>
          <a:custGeom>
            <a:avLst/>
            <a:gdLst/>
            <a:ahLst/>
            <a:cxnLst/>
            <a:rect r="r" b="b" t="t" l="l"/>
            <a:pathLst>
              <a:path h="1681830" w="1681830">
                <a:moveTo>
                  <a:pt x="0" y="0"/>
                </a:moveTo>
                <a:lnTo>
                  <a:pt x="1681830" y="0"/>
                </a:lnTo>
                <a:lnTo>
                  <a:pt x="1681830" y="1681830"/>
                </a:lnTo>
                <a:lnTo>
                  <a:pt x="0" y="1681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51468" y="248256"/>
            <a:ext cx="13505937" cy="1495713"/>
            <a:chOff x="0" y="0"/>
            <a:chExt cx="26197794" cy="29012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197793" cy="2901270"/>
            </a:xfrm>
            <a:custGeom>
              <a:avLst/>
              <a:gdLst/>
              <a:ahLst/>
              <a:cxnLst/>
              <a:rect r="r" b="b" t="t" l="l"/>
              <a:pathLst>
                <a:path h="2901270" w="26197793">
                  <a:moveTo>
                    <a:pt x="0" y="0"/>
                  </a:moveTo>
                  <a:lnTo>
                    <a:pt x="26197793" y="0"/>
                  </a:lnTo>
                  <a:lnTo>
                    <a:pt x="26197793" y="2901270"/>
                  </a:lnTo>
                  <a:lnTo>
                    <a:pt x="0" y="2901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6197794" cy="297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b="true" sz="35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SPAARK – UNIFYING MARINE </a:t>
              </a:r>
              <a:r>
                <a:rPr lang="en-US" b="true" sz="35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DATA, POWERING      SUSTAINABLE OCEANS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70042" y="1684306"/>
            <a:ext cx="7856774" cy="7632391"/>
            <a:chOff x="0" y="0"/>
            <a:chExt cx="10475699" cy="1017652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70273"/>
              <a:ext cx="10475699" cy="3114155"/>
              <a:chOff x="0" y="0"/>
              <a:chExt cx="2244049" cy="66709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44049" cy="667098"/>
              </a:xfrm>
              <a:custGeom>
                <a:avLst/>
                <a:gdLst/>
                <a:ahLst/>
                <a:cxnLst/>
                <a:rect r="r" b="b" t="t" l="l"/>
                <a:pathLst>
                  <a:path h="667098" w="2244049">
                    <a:moveTo>
                      <a:pt x="8868" y="0"/>
                    </a:moveTo>
                    <a:lnTo>
                      <a:pt x="2235180" y="0"/>
                    </a:lnTo>
                    <a:cubicBezTo>
                      <a:pt x="2237532" y="0"/>
                      <a:pt x="2239788" y="934"/>
                      <a:pt x="2241451" y="2598"/>
                    </a:cubicBezTo>
                    <a:cubicBezTo>
                      <a:pt x="2243114" y="4261"/>
                      <a:pt x="2244049" y="6516"/>
                      <a:pt x="2244049" y="8868"/>
                    </a:cubicBezTo>
                    <a:lnTo>
                      <a:pt x="2244049" y="658229"/>
                    </a:lnTo>
                    <a:cubicBezTo>
                      <a:pt x="2244049" y="660582"/>
                      <a:pt x="2243114" y="662837"/>
                      <a:pt x="2241451" y="664500"/>
                    </a:cubicBezTo>
                    <a:cubicBezTo>
                      <a:pt x="2239788" y="666164"/>
                      <a:pt x="2237532" y="667098"/>
                      <a:pt x="2235180" y="667098"/>
                    </a:cubicBezTo>
                    <a:lnTo>
                      <a:pt x="8868" y="667098"/>
                    </a:lnTo>
                    <a:cubicBezTo>
                      <a:pt x="6516" y="667098"/>
                      <a:pt x="4261" y="666164"/>
                      <a:pt x="2598" y="664500"/>
                    </a:cubicBezTo>
                    <a:cubicBezTo>
                      <a:pt x="934" y="662837"/>
                      <a:pt x="0" y="660582"/>
                      <a:pt x="0" y="658229"/>
                    </a:cubicBezTo>
                    <a:lnTo>
                      <a:pt x="0" y="8868"/>
                    </a:lnTo>
                    <a:cubicBezTo>
                      <a:pt x="0" y="6516"/>
                      <a:pt x="934" y="4261"/>
                      <a:pt x="2598" y="2598"/>
                    </a:cubicBezTo>
                    <a:cubicBezTo>
                      <a:pt x="4261" y="934"/>
                      <a:pt x="6516" y="0"/>
                      <a:pt x="88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899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244049" cy="7051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920271" y="0"/>
              <a:ext cx="6698760" cy="1010174"/>
              <a:chOff x="0" y="0"/>
              <a:chExt cx="6698760" cy="101017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698760" cy="1010174"/>
              </a:xfrm>
              <a:custGeom>
                <a:avLst/>
                <a:gdLst/>
                <a:ahLst/>
                <a:cxnLst/>
                <a:rect r="r" b="b" t="t" l="l"/>
                <a:pathLst>
                  <a:path h="1010174" w="6698760">
                    <a:moveTo>
                      <a:pt x="0" y="0"/>
                    </a:moveTo>
                    <a:lnTo>
                      <a:pt x="6698760" y="0"/>
                    </a:lnTo>
                    <a:lnTo>
                      <a:pt x="6698760" y="1010174"/>
                    </a:lnTo>
                    <a:lnTo>
                      <a:pt x="0" y="101017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6698760" cy="102922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b="true" sz="2600" u="sng">
                    <a:solidFill>
                      <a:srgbClr val="1E707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FEASIBILITY AND VIABILITY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604" y="872686"/>
              <a:ext cx="10412094" cy="2205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Technically feasible: AI/ML and cl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oud pipelines can </a:t>
              </a:r>
              <a:r>
                <a:rPr lang="en-US" b="true" sz="19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handle diverse marine data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High impact: </a:t>
              </a:r>
              <a:r>
                <a:rPr lang="en-US" b="true" sz="19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Supports research, fisheries management, and conservation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Scalable &amp; sustainable: </a:t>
              </a:r>
              <a:r>
                <a:rPr lang="en-US" b="true" sz="19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Modular design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allows integration.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3639" y="3373843"/>
              <a:ext cx="10472059" cy="3642588"/>
              <a:chOff x="0" y="0"/>
              <a:chExt cx="2243269" cy="78029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243269" cy="780296"/>
              </a:xfrm>
              <a:custGeom>
                <a:avLst/>
                <a:gdLst/>
                <a:ahLst/>
                <a:cxnLst/>
                <a:rect r="r" b="b" t="t" l="l"/>
                <a:pathLst>
                  <a:path h="780296" w="2243269">
                    <a:moveTo>
                      <a:pt x="8872" y="0"/>
                    </a:moveTo>
                    <a:lnTo>
                      <a:pt x="2234398" y="0"/>
                    </a:lnTo>
                    <a:cubicBezTo>
                      <a:pt x="2239297" y="0"/>
                      <a:pt x="2243269" y="3972"/>
                      <a:pt x="2243269" y="8872"/>
                    </a:cubicBezTo>
                    <a:lnTo>
                      <a:pt x="2243269" y="771425"/>
                    </a:lnTo>
                    <a:cubicBezTo>
                      <a:pt x="2243269" y="776324"/>
                      <a:pt x="2239297" y="780296"/>
                      <a:pt x="2234398" y="780296"/>
                    </a:cubicBezTo>
                    <a:lnTo>
                      <a:pt x="8872" y="780296"/>
                    </a:lnTo>
                    <a:cubicBezTo>
                      <a:pt x="3972" y="780296"/>
                      <a:pt x="0" y="776324"/>
                      <a:pt x="0" y="771425"/>
                    </a:cubicBezTo>
                    <a:lnTo>
                      <a:pt x="0" y="8872"/>
                    </a:lnTo>
                    <a:cubicBezTo>
                      <a:pt x="0" y="3972"/>
                      <a:pt x="3972" y="0"/>
                      <a:pt x="88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899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243269" cy="8183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873685" y="3281664"/>
              <a:ext cx="6627246" cy="1010174"/>
              <a:chOff x="0" y="0"/>
              <a:chExt cx="6627246" cy="101017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27247" cy="1010174"/>
              </a:xfrm>
              <a:custGeom>
                <a:avLst/>
                <a:gdLst/>
                <a:ahLst/>
                <a:cxnLst/>
                <a:rect r="r" b="b" t="t" l="l"/>
                <a:pathLst>
                  <a:path h="1010174" w="6627247">
                    <a:moveTo>
                      <a:pt x="0" y="0"/>
                    </a:moveTo>
                    <a:lnTo>
                      <a:pt x="6627247" y="0"/>
                    </a:lnTo>
                    <a:lnTo>
                      <a:pt x="6627247" y="1010174"/>
                    </a:lnTo>
                    <a:lnTo>
                      <a:pt x="0" y="101017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9050"/>
                <a:ext cx="6627246" cy="102922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b="true" sz="2600" u="sng">
                    <a:solidFill>
                      <a:srgbClr val="1E707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POTENTIAL CHALLENGES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25444" y="4175653"/>
              <a:ext cx="10035119" cy="2650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b="true" sz="19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complexity: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Integrating diverse ocean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ographic, morphological, 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and 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mol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cul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 data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sets.</a:t>
              </a:r>
            </a:p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b="true" sz="19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 volume: 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anag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ces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sin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 large-scale continuous data.</a:t>
              </a:r>
            </a:p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b="true" sz="19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Cross-domain analysis: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mp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ally intensive correlations across multiple disciplines.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3639" y="7187002"/>
              <a:ext cx="10464689" cy="2989519"/>
              <a:chOff x="0" y="0"/>
              <a:chExt cx="2241690" cy="64039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241690" cy="640399"/>
              </a:xfrm>
              <a:custGeom>
                <a:avLst/>
                <a:gdLst/>
                <a:ahLst/>
                <a:cxnLst/>
                <a:rect r="r" b="b" t="t" l="l"/>
                <a:pathLst>
                  <a:path h="640399" w="2241690">
                    <a:moveTo>
                      <a:pt x="8878" y="0"/>
                    </a:moveTo>
                    <a:lnTo>
                      <a:pt x="2232813" y="0"/>
                    </a:lnTo>
                    <a:cubicBezTo>
                      <a:pt x="2235167" y="0"/>
                      <a:pt x="2237425" y="935"/>
                      <a:pt x="2239090" y="2600"/>
                    </a:cubicBezTo>
                    <a:cubicBezTo>
                      <a:pt x="2240755" y="4265"/>
                      <a:pt x="2241690" y="6523"/>
                      <a:pt x="2241690" y="8878"/>
                    </a:cubicBezTo>
                    <a:lnTo>
                      <a:pt x="2241690" y="631521"/>
                    </a:lnTo>
                    <a:cubicBezTo>
                      <a:pt x="2241690" y="633876"/>
                      <a:pt x="2240755" y="636134"/>
                      <a:pt x="2239090" y="637799"/>
                    </a:cubicBezTo>
                    <a:cubicBezTo>
                      <a:pt x="2237425" y="639464"/>
                      <a:pt x="2235167" y="640399"/>
                      <a:pt x="2232813" y="640399"/>
                    </a:cubicBezTo>
                    <a:lnTo>
                      <a:pt x="8878" y="640399"/>
                    </a:lnTo>
                    <a:cubicBezTo>
                      <a:pt x="6523" y="640399"/>
                      <a:pt x="4265" y="639464"/>
                      <a:pt x="2600" y="637799"/>
                    </a:cubicBezTo>
                    <a:cubicBezTo>
                      <a:pt x="935" y="636134"/>
                      <a:pt x="0" y="633876"/>
                      <a:pt x="0" y="631521"/>
                    </a:cubicBezTo>
                    <a:lnTo>
                      <a:pt x="0" y="8878"/>
                    </a:lnTo>
                    <a:cubicBezTo>
                      <a:pt x="0" y="6523"/>
                      <a:pt x="935" y="4265"/>
                      <a:pt x="2600" y="2600"/>
                    </a:cubicBezTo>
                    <a:cubicBezTo>
                      <a:pt x="4265" y="935"/>
                      <a:pt x="6523" y="0"/>
                      <a:pt x="88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8990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2241690" cy="6784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89631" y="7016431"/>
              <a:ext cx="10360042" cy="1010174"/>
              <a:chOff x="0" y="0"/>
              <a:chExt cx="10360042" cy="101017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360042" cy="1010174"/>
              </a:xfrm>
              <a:custGeom>
                <a:avLst/>
                <a:gdLst/>
                <a:ahLst/>
                <a:cxnLst/>
                <a:rect r="r" b="b" t="t" l="l"/>
                <a:pathLst>
                  <a:path h="1010174" w="10360042">
                    <a:moveTo>
                      <a:pt x="0" y="0"/>
                    </a:moveTo>
                    <a:lnTo>
                      <a:pt x="10360042" y="0"/>
                    </a:lnTo>
                    <a:lnTo>
                      <a:pt x="10360042" y="1010174"/>
                    </a:lnTo>
                    <a:lnTo>
                      <a:pt x="0" y="101017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9050"/>
                <a:ext cx="10360042" cy="102922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b="true" sz="2600" u="sng">
                    <a:solidFill>
                      <a:srgbClr val="1E707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STRATEGIES FOR OVERCOMING CHALLENGES</a:t>
                </a: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227674" y="7978980"/>
              <a:ext cx="10136007" cy="1761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b="true" sz="19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Standardize data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usin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 global fo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rmat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s.</a:t>
              </a:r>
            </a:p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</a:t>
              </a:r>
              <a:r>
                <a:rPr lang="en-US" b="true" sz="19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cloud infrastructure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for storage and 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ces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sin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g.</a:t>
              </a:r>
            </a:p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Apply</a:t>
              </a:r>
              <a:r>
                <a:rPr lang="en-US" b="true" sz="19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AI/ML for cross-domain analysis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ui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ld </a:t>
              </a:r>
              <a:r>
                <a:rPr lang="en-US" b="true" sz="19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user-friendly dashboards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with </a:t>
              </a:r>
              <a:r>
                <a:rPr lang="en-US" b="true" sz="19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role-based access</a:t>
              </a: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7233" y="6055575"/>
            <a:ext cx="9770255" cy="3281629"/>
            <a:chOff x="0" y="0"/>
            <a:chExt cx="13027007" cy="4375505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3027007" cy="4375505"/>
              <a:chOff x="0" y="0"/>
              <a:chExt cx="2790577" cy="93729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790577" cy="937298"/>
              </a:xfrm>
              <a:custGeom>
                <a:avLst/>
                <a:gdLst/>
                <a:ahLst/>
                <a:cxnLst/>
                <a:rect r="r" b="b" t="t" l="l"/>
                <a:pathLst>
                  <a:path h="937298" w="2790577">
                    <a:moveTo>
                      <a:pt x="7132" y="0"/>
                    </a:moveTo>
                    <a:lnTo>
                      <a:pt x="2783445" y="0"/>
                    </a:lnTo>
                    <a:cubicBezTo>
                      <a:pt x="2787384" y="0"/>
                      <a:pt x="2790577" y="3193"/>
                      <a:pt x="2790577" y="7132"/>
                    </a:cubicBezTo>
                    <a:lnTo>
                      <a:pt x="2790577" y="930166"/>
                    </a:lnTo>
                    <a:cubicBezTo>
                      <a:pt x="2790577" y="934105"/>
                      <a:pt x="2787384" y="937298"/>
                      <a:pt x="2783445" y="937298"/>
                    </a:cubicBezTo>
                    <a:lnTo>
                      <a:pt x="7132" y="937298"/>
                    </a:lnTo>
                    <a:cubicBezTo>
                      <a:pt x="3193" y="937298"/>
                      <a:pt x="0" y="934105"/>
                      <a:pt x="0" y="930166"/>
                    </a:cubicBezTo>
                    <a:lnTo>
                      <a:pt x="0" y="7132"/>
                    </a:lnTo>
                    <a:cubicBezTo>
                      <a:pt x="0" y="3193"/>
                      <a:pt x="3193" y="0"/>
                      <a:pt x="71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899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2790577" cy="975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725140" y="867570"/>
              <a:ext cx="5638216" cy="3162098"/>
            </a:xfrm>
            <a:custGeom>
              <a:avLst/>
              <a:gdLst/>
              <a:ahLst/>
              <a:cxnLst/>
              <a:rect r="r" b="b" t="t" l="l"/>
              <a:pathLst>
                <a:path h="3162098" w="5638216">
                  <a:moveTo>
                    <a:pt x="0" y="0"/>
                  </a:moveTo>
                  <a:lnTo>
                    <a:pt x="5638216" y="0"/>
                  </a:lnTo>
                  <a:lnTo>
                    <a:pt x="5638216" y="3162098"/>
                  </a:lnTo>
                  <a:lnTo>
                    <a:pt x="0" y="316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618" r="0" b="-8618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6675565" y="867570"/>
              <a:ext cx="6049012" cy="3162098"/>
            </a:xfrm>
            <a:custGeom>
              <a:avLst/>
              <a:gdLst/>
              <a:ahLst/>
              <a:cxnLst/>
              <a:rect r="r" b="b" t="t" l="l"/>
              <a:pathLst>
                <a:path h="3162098" w="6049012">
                  <a:moveTo>
                    <a:pt x="0" y="0"/>
                  </a:moveTo>
                  <a:lnTo>
                    <a:pt x="6049013" y="0"/>
                  </a:lnTo>
                  <a:lnTo>
                    <a:pt x="6049013" y="3162098"/>
                  </a:lnTo>
                  <a:lnTo>
                    <a:pt x="0" y="316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628" r="0" b="-762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2532059" y="50797"/>
              <a:ext cx="8478110" cy="58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8"/>
                </a:lnSpc>
              </a:pPr>
              <a:r>
                <a:rPr lang="en-US" b="true" sz="2599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PROTOTYPE SNAPSHOTS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221272" y="1734443"/>
            <a:ext cx="9770255" cy="4216356"/>
            <a:chOff x="0" y="0"/>
            <a:chExt cx="13027007" cy="5621808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13027007" cy="5621808"/>
              <a:chOff x="0" y="0"/>
              <a:chExt cx="2790577" cy="120427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790577" cy="1204274"/>
              </a:xfrm>
              <a:custGeom>
                <a:avLst/>
                <a:gdLst/>
                <a:ahLst/>
                <a:cxnLst/>
                <a:rect r="r" b="b" t="t" l="l"/>
                <a:pathLst>
                  <a:path h="1204274" w="2790577">
                    <a:moveTo>
                      <a:pt x="7132" y="0"/>
                    </a:moveTo>
                    <a:lnTo>
                      <a:pt x="2783445" y="0"/>
                    </a:lnTo>
                    <a:cubicBezTo>
                      <a:pt x="2787384" y="0"/>
                      <a:pt x="2790577" y="3193"/>
                      <a:pt x="2790577" y="7132"/>
                    </a:cubicBezTo>
                    <a:lnTo>
                      <a:pt x="2790577" y="1197143"/>
                    </a:lnTo>
                    <a:cubicBezTo>
                      <a:pt x="2790577" y="1201081"/>
                      <a:pt x="2787384" y="1204274"/>
                      <a:pt x="2783445" y="1204274"/>
                    </a:cubicBezTo>
                    <a:lnTo>
                      <a:pt x="7132" y="1204274"/>
                    </a:lnTo>
                    <a:cubicBezTo>
                      <a:pt x="3193" y="1204274"/>
                      <a:pt x="0" y="1201081"/>
                      <a:pt x="0" y="1197143"/>
                    </a:cubicBezTo>
                    <a:lnTo>
                      <a:pt x="0" y="7132"/>
                    </a:lnTo>
                    <a:cubicBezTo>
                      <a:pt x="0" y="3193"/>
                      <a:pt x="3193" y="0"/>
                      <a:pt x="71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8990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2790577" cy="1242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2354173" y="1150454"/>
              <a:ext cx="1965258" cy="4269882"/>
              <a:chOff x="0" y="0"/>
              <a:chExt cx="420987" cy="91467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20987" cy="914672"/>
              </a:xfrm>
              <a:custGeom>
                <a:avLst/>
                <a:gdLst/>
                <a:ahLst/>
                <a:cxnLst/>
                <a:rect r="r" b="b" t="t" l="l"/>
                <a:pathLst>
                  <a:path h="914672" w="420987">
                    <a:moveTo>
                      <a:pt x="47273" y="0"/>
                    </a:moveTo>
                    <a:lnTo>
                      <a:pt x="373714" y="0"/>
                    </a:lnTo>
                    <a:cubicBezTo>
                      <a:pt x="386252" y="0"/>
                      <a:pt x="398276" y="4981"/>
                      <a:pt x="407141" y="13846"/>
                    </a:cubicBezTo>
                    <a:cubicBezTo>
                      <a:pt x="416007" y="22711"/>
                      <a:pt x="420987" y="34735"/>
                      <a:pt x="420987" y="47273"/>
                    </a:cubicBezTo>
                    <a:lnTo>
                      <a:pt x="420987" y="867399"/>
                    </a:lnTo>
                    <a:cubicBezTo>
                      <a:pt x="420987" y="893507"/>
                      <a:pt x="399822" y="914672"/>
                      <a:pt x="373714" y="914672"/>
                    </a:cubicBezTo>
                    <a:lnTo>
                      <a:pt x="47273" y="914672"/>
                    </a:lnTo>
                    <a:cubicBezTo>
                      <a:pt x="34735" y="914672"/>
                      <a:pt x="22711" y="909691"/>
                      <a:pt x="13846" y="900826"/>
                    </a:cubicBezTo>
                    <a:cubicBezTo>
                      <a:pt x="4981" y="891960"/>
                      <a:pt x="0" y="879936"/>
                      <a:pt x="0" y="867399"/>
                    </a:cubicBezTo>
                    <a:lnTo>
                      <a:pt x="0" y="47273"/>
                    </a:lnTo>
                    <a:cubicBezTo>
                      <a:pt x="0" y="21165"/>
                      <a:pt x="21165" y="0"/>
                      <a:pt x="472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8990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420987" cy="9527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2346492" y="1175843"/>
              <a:ext cx="1955400" cy="887997"/>
              <a:chOff x="0" y="0"/>
              <a:chExt cx="651800" cy="295999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651800" cy="295999"/>
              </a:xfrm>
              <a:custGeom>
                <a:avLst/>
                <a:gdLst/>
                <a:ahLst/>
                <a:cxnLst/>
                <a:rect r="r" b="b" t="t" l="l"/>
                <a:pathLst>
                  <a:path h="295999" w="651800">
                    <a:moveTo>
                      <a:pt x="47511" y="0"/>
                    </a:moveTo>
                    <a:lnTo>
                      <a:pt x="604289" y="0"/>
                    </a:lnTo>
                    <a:cubicBezTo>
                      <a:pt x="616890" y="0"/>
                      <a:pt x="628974" y="5006"/>
                      <a:pt x="637884" y="13916"/>
                    </a:cubicBezTo>
                    <a:cubicBezTo>
                      <a:pt x="646795" y="22826"/>
                      <a:pt x="651800" y="34910"/>
                      <a:pt x="651800" y="47511"/>
                    </a:cubicBezTo>
                    <a:lnTo>
                      <a:pt x="651800" y="248488"/>
                    </a:lnTo>
                    <a:cubicBezTo>
                      <a:pt x="651800" y="261089"/>
                      <a:pt x="646795" y="273173"/>
                      <a:pt x="637884" y="282083"/>
                    </a:cubicBezTo>
                    <a:cubicBezTo>
                      <a:pt x="628974" y="290993"/>
                      <a:pt x="616890" y="295999"/>
                      <a:pt x="604289" y="295999"/>
                    </a:cubicBezTo>
                    <a:lnTo>
                      <a:pt x="47511" y="295999"/>
                    </a:lnTo>
                    <a:cubicBezTo>
                      <a:pt x="21271" y="295999"/>
                      <a:pt x="0" y="274728"/>
                      <a:pt x="0" y="248488"/>
                    </a:cubicBezTo>
                    <a:lnTo>
                      <a:pt x="0" y="47511"/>
                    </a:lnTo>
                    <a:cubicBezTo>
                      <a:pt x="0" y="34910"/>
                      <a:pt x="5006" y="22826"/>
                      <a:pt x="13916" y="13916"/>
                    </a:cubicBezTo>
                    <a:cubicBezTo>
                      <a:pt x="22826" y="5006"/>
                      <a:pt x="34910" y="0"/>
                      <a:pt x="47511" y="0"/>
                    </a:cubicBezTo>
                    <a:close/>
                  </a:path>
                </a:pathLst>
              </a:custGeom>
              <a:solidFill>
                <a:srgbClr val="4F8990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47625"/>
                <a:ext cx="651800" cy="3436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2430930" y="1331265"/>
              <a:ext cx="1870962" cy="523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MetaData Tagging API</a:t>
              </a:r>
            </a:p>
          </p:txBody>
        </p:sp>
        <p:sp>
          <p:nvSpPr>
            <p:cNvPr name="Freeform 56" id="56"/>
            <p:cNvSpPr/>
            <p:nvPr/>
          </p:nvSpPr>
          <p:spPr>
            <a:xfrm flipH="false" flipV="false" rot="0">
              <a:off x="2880862" y="3285395"/>
              <a:ext cx="803569" cy="899997"/>
            </a:xfrm>
            <a:custGeom>
              <a:avLst/>
              <a:gdLst/>
              <a:ahLst/>
              <a:cxnLst/>
              <a:rect r="r" b="b" t="t" l="l"/>
              <a:pathLst>
                <a:path h="899997" w="803569">
                  <a:moveTo>
                    <a:pt x="0" y="0"/>
                  </a:moveTo>
                  <a:lnTo>
                    <a:pt x="803569" y="0"/>
                  </a:lnTo>
                  <a:lnTo>
                    <a:pt x="803569" y="899997"/>
                  </a:lnTo>
                  <a:lnTo>
                    <a:pt x="0" y="899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2700000">
              <a:off x="3028466" y="3768302"/>
              <a:ext cx="269711" cy="269711"/>
            </a:xfrm>
            <a:custGeom>
              <a:avLst/>
              <a:gdLst/>
              <a:ahLst/>
              <a:cxnLst/>
              <a:rect r="r" b="b" t="t" l="l"/>
              <a:pathLst>
                <a:path h="269711" w="269711">
                  <a:moveTo>
                    <a:pt x="0" y="0"/>
                  </a:moveTo>
                  <a:lnTo>
                    <a:pt x="269710" y="0"/>
                  </a:lnTo>
                  <a:lnTo>
                    <a:pt x="269710" y="269710"/>
                  </a:lnTo>
                  <a:lnTo>
                    <a:pt x="0" y="269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8" id="58"/>
            <p:cNvGrpSpPr/>
            <p:nvPr/>
          </p:nvGrpSpPr>
          <p:grpSpPr>
            <a:xfrm rot="0">
              <a:off x="8735560" y="1150454"/>
              <a:ext cx="1965258" cy="4269882"/>
              <a:chOff x="0" y="0"/>
              <a:chExt cx="420987" cy="914672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420987" cy="914672"/>
              </a:xfrm>
              <a:custGeom>
                <a:avLst/>
                <a:gdLst/>
                <a:ahLst/>
                <a:cxnLst/>
                <a:rect r="r" b="b" t="t" l="l"/>
                <a:pathLst>
                  <a:path h="914672" w="420987">
                    <a:moveTo>
                      <a:pt x="47273" y="0"/>
                    </a:moveTo>
                    <a:lnTo>
                      <a:pt x="373714" y="0"/>
                    </a:lnTo>
                    <a:cubicBezTo>
                      <a:pt x="386252" y="0"/>
                      <a:pt x="398276" y="4981"/>
                      <a:pt x="407141" y="13846"/>
                    </a:cubicBezTo>
                    <a:cubicBezTo>
                      <a:pt x="416007" y="22711"/>
                      <a:pt x="420987" y="34735"/>
                      <a:pt x="420987" y="47273"/>
                    </a:cubicBezTo>
                    <a:lnTo>
                      <a:pt x="420987" y="867399"/>
                    </a:lnTo>
                    <a:cubicBezTo>
                      <a:pt x="420987" y="893507"/>
                      <a:pt x="399822" y="914672"/>
                      <a:pt x="373714" y="914672"/>
                    </a:cubicBezTo>
                    <a:lnTo>
                      <a:pt x="47273" y="914672"/>
                    </a:lnTo>
                    <a:cubicBezTo>
                      <a:pt x="34735" y="914672"/>
                      <a:pt x="22711" y="909691"/>
                      <a:pt x="13846" y="900826"/>
                    </a:cubicBezTo>
                    <a:cubicBezTo>
                      <a:pt x="4981" y="891960"/>
                      <a:pt x="0" y="879936"/>
                      <a:pt x="0" y="867399"/>
                    </a:cubicBezTo>
                    <a:lnTo>
                      <a:pt x="0" y="47273"/>
                    </a:lnTo>
                    <a:cubicBezTo>
                      <a:pt x="0" y="21165"/>
                      <a:pt x="21165" y="0"/>
                      <a:pt x="472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8990"/>
                </a:solidFill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420987" cy="9527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8755532" y="1153490"/>
              <a:ext cx="1955400" cy="887997"/>
              <a:chOff x="0" y="0"/>
              <a:chExt cx="651800" cy="29599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651800" cy="295999"/>
              </a:xfrm>
              <a:custGeom>
                <a:avLst/>
                <a:gdLst/>
                <a:ahLst/>
                <a:cxnLst/>
                <a:rect r="r" b="b" t="t" l="l"/>
                <a:pathLst>
                  <a:path h="295999" w="651800">
                    <a:moveTo>
                      <a:pt x="47511" y="0"/>
                    </a:moveTo>
                    <a:lnTo>
                      <a:pt x="604289" y="0"/>
                    </a:lnTo>
                    <a:cubicBezTo>
                      <a:pt x="616890" y="0"/>
                      <a:pt x="628974" y="5006"/>
                      <a:pt x="637884" y="13916"/>
                    </a:cubicBezTo>
                    <a:cubicBezTo>
                      <a:pt x="646795" y="22826"/>
                      <a:pt x="651800" y="34910"/>
                      <a:pt x="651800" y="47511"/>
                    </a:cubicBezTo>
                    <a:lnTo>
                      <a:pt x="651800" y="248488"/>
                    </a:lnTo>
                    <a:cubicBezTo>
                      <a:pt x="651800" y="261089"/>
                      <a:pt x="646795" y="273173"/>
                      <a:pt x="637884" y="282083"/>
                    </a:cubicBezTo>
                    <a:cubicBezTo>
                      <a:pt x="628974" y="290993"/>
                      <a:pt x="616890" y="295999"/>
                      <a:pt x="604289" y="295999"/>
                    </a:cubicBezTo>
                    <a:lnTo>
                      <a:pt x="47511" y="295999"/>
                    </a:lnTo>
                    <a:cubicBezTo>
                      <a:pt x="21271" y="295999"/>
                      <a:pt x="0" y="274728"/>
                      <a:pt x="0" y="248488"/>
                    </a:cubicBezTo>
                    <a:lnTo>
                      <a:pt x="0" y="47511"/>
                    </a:lnTo>
                    <a:cubicBezTo>
                      <a:pt x="0" y="34910"/>
                      <a:pt x="5006" y="22826"/>
                      <a:pt x="13916" y="13916"/>
                    </a:cubicBezTo>
                    <a:cubicBezTo>
                      <a:pt x="22826" y="5006"/>
                      <a:pt x="34910" y="0"/>
                      <a:pt x="47511" y="0"/>
                    </a:cubicBezTo>
                    <a:close/>
                  </a:path>
                </a:pathLst>
              </a:custGeom>
              <a:solidFill>
                <a:srgbClr val="4F8990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47625"/>
                <a:ext cx="651800" cy="3436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8831654" y="1347142"/>
              <a:ext cx="1761139" cy="523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Visualization &amp; Access </a:t>
              </a:r>
            </a:p>
          </p:txBody>
        </p:sp>
        <p:grpSp>
          <p:nvGrpSpPr>
            <p:cNvPr name="Group 65" id="65"/>
            <p:cNvGrpSpPr/>
            <p:nvPr/>
          </p:nvGrpSpPr>
          <p:grpSpPr>
            <a:xfrm rot="0">
              <a:off x="6617403" y="1127028"/>
              <a:ext cx="1965258" cy="4269882"/>
              <a:chOff x="0" y="0"/>
              <a:chExt cx="420987" cy="914672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420987" cy="914672"/>
              </a:xfrm>
              <a:custGeom>
                <a:avLst/>
                <a:gdLst/>
                <a:ahLst/>
                <a:cxnLst/>
                <a:rect r="r" b="b" t="t" l="l"/>
                <a:pathLst>
                  <a:path h="914672" w="420987">
                    <a:moveTo>
                      <a:pt x="47273" y="0"/>
                    </a:moveTo>
                    <a:lnTo>
                      <a:pt x="373714" y="0"/>
                    </a:lnTo>
                    <a:cubicBezTo>
                      <a:pt x="386252" y="0"/>
                      <a:pt x="398276" y="4981"/>
                      <a:pt x="407141" y="13846"/>
                    </a:cubicBezTo>
                    <a:cubicBezTo>
                      <a:pt x="416007" y="22711"/>
                      <a:pt x="420987" y="34735"/>
                      <a:pt x="420987" y="47273"/>
                    </a:cubicBezTo>
                    <a:lnTo>
                      <a:pt x="420987" y="867399"/>
                    </a:lnTo>
                    <a:cubicBezTo>
                      <a:pt x="420987" y="893507"/>
                      <a:pt x="399822" y="914672"/>
                      <a:pt x="373714" y="914672"/>
                    </a:cubicBezTo>
                    <a:lnTo>
                      <a:pt x="47273" y="914672"/>
                    </a:lnTo>
                    <a:cubicBezTo>
                      <a:pt x="34735" y="914672"/>
                      <a:pt x="22711" y="909691"/>
                      <a:pt x="13846" y="900826"/>
                    </a:cubicBezTo>
                    <a:cubicBezTo>
                      <a:pt x="4981" y="891960"/>
                      <a:pt x="0" y="879936"/>
                      <a:pt x="0" y="867399"/>
                    </a:cubicBezTo>
                    <a:lnTo>
                      <a:pt x="0" y="47273"/>
                    </a:lnTo>
                    <a:cubicBezTo>
                      <a:pt x="0" y="21165"/>
                      <a:pt x="21165" y="0"/>
                      <a:pt x="472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8990"/>
                </a:solidFill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420987" cy="9527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6620511" y="1159965"/>
              <a:ext cx="1955400" cy="887997"/>
              <a:chOff x="0" y="0"/>
              <a:chExt cx="651800" cy="295999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651800" cy="295999"/>
              </a:xfrm>
              <a:custGeom>
                <a:avLst/>
                <a:gdLst/>
                <a:ahLst/>
                <a:cxnLst/>
                <a:rect r="r" b="b" t="t" l="l"/>
                <a:pathLst>
                  <a:path h="295999" w="651800">
                    <a:moveTo>
                      <a:pt x="47511" y="0"/>
                    </a:moveTo>
                    <a:lnTo>
                      <a:pt x="604289" y="0"/>
                    </a:lnTo>
                    <a:cubicBezTo>
                      <a:pt x="616890" y="0"/>
                      <a:pt x="628974" y="5006"/>
                      <a:pt x="637884" y="13916"/>
                    </a:cubicBezTo>
                    <a:cubicBezTo>
                      <a:pt x="646795" y="22826"/>
                      <a:pt x="651800" y="34910"/>
                      <a:pt x="651800" y="47511"/>
                    </a:cubicBezTo>
                    <a:lnTo>
                      <a:pt x="651800" y="248488"/>
                    </a:lnTo>
                    <a:cubicBezTo>
                      <a:pt x="651800" y="261089"/>
                      <a:pt x="646795" y="273173"/>
                      <a:pt x="637884" y="282083"/>
                    </a:cubicBezTo>
                    <a:cubicBezTo>
                      <a:pt x="628974" y="290993"/>
                      <a:pt x="616890" y="295999"/>
                      <a:pt x="604289" y="295999"/>
                    </a:cubicBezTo>
                    <a:lnTo>
                      <a:pt x="47511" y="295999"/>
                    </a:lnTo>
                    <a:cubicBezTo>
                      <a:pt x="21271" y="295999"/>
                      <a:pt x="0" y="274728"/>
                      <a:pt x="0" y="248488"/>
                    </a:cubicBezTo>
                    <a:lnTo>
                      <a:pt x="0" y="47511"/>
                    </a:lnTo>
                    <a:cubicBezTo>
                      <a:pt x="0" y="34910"/>
                      <a:pt x="5006" y="22826"/>
                      <a:pt x="13916" y="13916"/>
                    </a:cubicBezTo>
                    <a:cubicBezTo>
                      <a:pt x="22826" y="5006"/>
                      <a:pt x="34910" y="0"/>
                      <a:pt x="47511" y="0"/>
                    </a:cubicBezTo>
                    <a:close/>
                  </a:path>
                </a:pathLst>
              </a:custGeom>
              <a:solidFill>
                <a:srgbClr val="4F8990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47625"/>
                <a:ext cx="651800" cy="3436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71" id="71"/>
            <p:cNvSpPr txBox="true"/>
            <p:nvPr/>
          </p:nvSpPr>
          <p:spPr>
            <a:xfrm rot="0">
              <a:off x="6638334" y="1347142"/>
              <a:ext cx="1825135" cy="523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Analysis &amp; Analytics </a:t>
              </a:r>
            </a:p>
          </p:txBody>
        </p:sp>
        <p:grpSp>
          <p:nvGrpSpPr>
            <p:cNvPr name="Group 72" id="72"/>
            <p:cNvGrpSpPr/>
            <p:nvPr/>
          </p:nvGrpSpPr>
          <p:grpSpPr>
            <a:xfrm rot="0">
              <a:off x="4471831" y="1150454"/>
              <a:ext cx="1965258" cy="4269882"/>
              <a:chOff x="0" y="0"/>
              <a:chExt cx="420987" cy="914672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420987" cy="914672"/>
              </a:xfrm>
              <a:custGeom>
                <a:avLst/>
                <a:gdLst/>
                <a:ahLst/>
                <a:cxnLst/>
                <a:rect r="r" b="b" t="t" l="l"/>
                <a:pathLst>
                  <a:path h="914672" w="420987">
                    <a:moveTo>
                      <a:pt x="47273" y="0"/>
                    </a:moveTo>
                    <a:lnTo>
                      <a:pt x="373714" y="0"/>
                    </a:lnTo>
                    <a:cubicBezTo>
                      <a:pt x="386252" y="0"/>
                      <a:pt x="398276" y="4981"/>
                      <a:pt x="407141" y="13846"/>
                    </a:cubicBezTo>
                    <a:cubicBezTo>
                      <a:pt x="416007" y="22711"/>
                      <a:pt x="420987" y="34735"/>
                      <a:pt x="420987" y="47273"/>
                    </a:cubicBezTo>
                    <a:lnTo>
                      <a:pt x="420987" y="867399"/>
                    </a:lnTo>
                    <a:cubicBezTo>
                      <a:pt x="420987" y="893507"/>
                      <a:pt x="399822" y="914672"/>
                      <a:pt x="373714" y="914672"/>
                    </a:cubicBezTo>
                    <a:lnTo>
                      <a:pt x="47273" y="914672"/>
                    </a:lnTo>
                    <a:cubicBezTo>
                      <a:pt x="34735" y="914672"/>
                      <a:pt x="22711" y="909691"/>
                      <a:pt x="13846" y="900826"/>
                    </a:cubicBezTo>
                    <a:cubicBezTo>
                      <a:pt x="4981" y="891960"/>
                      <a:pt x="0" y="879936"/>
                      <a:pt x="0" y="867399"/>
                    </a:cubicBezTo>
                    <a:lnTo>
                      <a:pt x="0" y="47273"/>
                    </a:lnTo>
                    <a:cubicBezTo>
                      <a:pt x="0" y="21165"/>
                      <a:pt x="21165" y="0"/>
                      <a:pt x="472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8990"/>
                </a:solidFill>
                <a:prstDash val="solid"/>
                <a:miter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420987" cy="9527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4478456" y="1159965"/>
              <a:ext cx="1955400" cy="887997"/>
              <a:chOff x="0" y="0"/>
              <a:chExt cx="651800" cy="295999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651800" cy="295999"/>
              </a:xfrm>
              <a:custGeom>
                <a:avLst/>
                <a:gdLst/>
                <a:ahLst/>
                <a:cxnLst/>
                <a:rect r="r" b="b" t="t" l="l"/>
                <a:pathLst>
                  <a:path h="295999" w="651800">
                    <a:moveTo>
                      <a:pt x="47511" y="0"/>
                    </a:moveTo>
                    <a:lnTo>
                      <a:pt x="604289" y="0"/>
                    </a:lnTo>
                    <a:cubicBezTo>
                      <a:pt x="616890" y="0"/>
                      <a:pt x="628974" y="5006"/>
                      <a:pt x="637884" y="13916"/>
                    </a:cubicBezTo>
                    <a:cubicBezTo>
                      <a:pt x="646795" y="22826"/>
                      <a:pt x="651800" y="34910"/>
                      <a:pt x="651800" y="47511"/>
                    </a:cubicBezTo>
                    <a:lnTo>
                      <a:pt x="651800" y="248488"/>
                    </a:lnTo>
                    <a:cubicBezTo>
                      <a:pt x="651800" y="261089"/>
                      <a:pt x="646795" y="273173"/>
                      <a:pt x="637884" y="282083"/>
                    </a:cubicBezTo>
                    <a:cubicBezTo>
                      <a:pt x="628974" y="290993"/>
                      <a:pt x="616890" y="295999"/>
                      <a:pt x="604289" y="295999"/>
                    </a:cubicBezTo>
                    <a:lnTo>
                      <a:pt x="47511" y="295999"/>
                    </a:lnTo>
                    <a:cubicBezTo>
                      <a:pt x="21271" y="295999"/>
                      <a:pt x="0" y="274728"/>
                      <a:pt x="0" y="248488"/>
                    </a:cubicBezTo>
                    <a:lnTo>
                      <a:pt x="0" y="47511"/>
                    </a:lnTo>
                    <a:cubicBezTo>
                      <a:pt x="0" y="34910"/>
                      <a:pt x="5006" y="22826"/>
                      <a:pt x="13916" y="13916"/>
                    </a:cubicBezTo>
                    <a:cubicBezTo>
                      <a:pt x="22826" y="5006"/>
                      <a:pt x="34910" y="0"/>
                      <a:pt x="47511" y="0"/>
                    </a:cubicBezTo>
                    <a:close/>
                  </a:path>
                </a:pathLst>
              </a:custGeom>
              <a:solidFill>
                <a:srgbClr val="4F8990"/>
              </a:solid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47625"/>
                <a:ext cx="651800" cy="3436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78" id="78"/>
            <p:cNvSpPr txBox="true"/>
            <p:nvPr/>
          </p:nvSpPr>
          <p:spPr>
            <a:xfrm rot="0">
              <a:off x="4499867" y="1347142"/>
              <a:ext cx="1977836" cy="523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Processing &amp; Unification API</a:t>
              </a:r>
            </a:p>
          </p:txBody>
        </p:sp>
        <p:sp>
          <p:nvSpPr>
            <p:cNvPr name="Freeform 79" id="79"/>
            <p:cNvSpPr/>
            <p:nvPr/>
          </p:nvSpPr>
          <p:spPr>
            <a:xfrm flipH="false" flipV="false" rot="0">
              <a:off x="4992535" y="3347043"/>
              <a:ext cx="667014" cy="730792"/>
            </a:xfrm>
            <a:custGeom>
              <a:avLst/>
              <a:gdLst/>
              <a:ahLst/>
              <a:cxnLst/>
              <a:rect r="r" b="b" t="t" l="l"/>
              <a:pathLst>
                <a:path h="730792" w="667014">
                  <a:moveTo>
                    <a:pt x="0" y="0"/>
                  </a:moveTo>
                  <a:lnTo>
                    <a:pt x="667013" y="0"/>
                  </a:lnTo>
                  <a:lnTo>
                    <a:pt x="667013" y="730792"/>
                  </a:lnTo>
                  <a:lnTo>
                    <a:pt x="0" y="730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5501797" y="3712439"/>
              <a:ext cx="315503" cy="397996"/>
            </a:xfrm>
            <a:custGeom>
              <a:avLst/>
              <a:gdLst/>
              <a:ahLst/>
              <a:cxnLst/>
              <a:rect r="r" b="b" t="t" l="l"/>
              <a:pathLst>
                <a:path h="397996" w="315503">
                  <a:moveTo>
                    <a:pt x="0" y="0"/>
                  </a:moveTo>
                  <a:lnTo>
                    <a:pt x="315502" y="0"/>
                  </a:lnTo>
                  <a:lnTo>
                    <a:pt x="315502" y="397997"/>
                  </a:lnTo>
                  <a:lnTo>
                    <a:pt x="0" y="39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1" id="81"/>
            <p:cNvGrpSpPr/>
            <p:nvPr/>
          </p:nvGrpSpPr>
          <p:grpSpPr>
            <a:xfrm rot="0">
              <a:off x="214392" y="1127028"/>
              <a:ext cx="1965258" cy="4269882"/>
              <a:chOff x="0" y="0"/>
              <a:chExt cx="420987" cy="914672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420987" cy="914672"/>
              </a:xfrm>
              <a:custGeom>
                <a:avLst/>
                <a:gdLst/>
                <a:ahLst/>
                <a:cxnLst/>
                <a:rect r="r" b="b" t="t" l="l"/>
                <a:pathLst>
                  <a:path h="914672" w="420987">
                    <a:moveTo>
                      <a:pt x="47273" y="0"/>
                    </a:moveTo>
                    <a:lnTo>
                      <a:pt x="373714" y="0"/>
                    </a:lnTo>
                    <a:cubicBezTo>
                      <a:pt x="386252" y="0"/>
                      <a:pt x="398276" y="4981"/>
                      <a:pt x="407141" y="13846"/>
                    </a:cubicBezTo>
                    <a:cubicBezTo>
                      <a:pt x="416007" y="22711"/>
                      <a:pt x="420987" y="34735"/>
                      <a:pt x="420987" y="47273"/>
                    </a:cubicBezTo>
                    <a:lnTo>
                      <a:pt x="420987" y="867399"/>
                    </a:lnTo>
                    <a:cubicBezTo>
                      <a:pt x="420987" y="893507"/>
                      <a:pt x="399822" y="914672"/>
                      <a:pt x="373714" y="914672"/>
                    </a:cubicBezTo>
                    <a:lnTo>
                      <a:pt x="47273" y="914672"/>
                    </a:lnTo>
                    <a:cubicBezTo>
                      <a:pt x="34735" y="914672"/>
                      <a:pt x="22711" y="909691"/>
                      <a:pt x="13846" y="900826"/>
                    </a:cubicBezTo>
                    <a:cubicBezTo>
                      <a:pt x="4981" y="891960"/>
                      <a:pt x="0" y="879936"/>
                      <a:pt x="0" y="867399"/>
                    </a:cubicBezTo>
                    <a:lnTo>
                      <a:pt x="0" y="47273"/>
                    </a:lnTo>
                    <a:cubicBezTo>
                      <a:pt x="0" y="21165"/>
                      <a:pt x="21165" y="0"/>
                      <a:pt x="472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8990"/>
                </a:solidFill>
                <a:prstDash val="solid"/>
                <a:miter/>
              </a:ln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38100"/>
                <a:ext cx="420987" cy="9527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214392" y="1153490"/>
              <a:ext cx="1955400" cy="887997"/>
              <a:chOff x="0" y="0"/>
              <a:chExt cx="651800" cy="295999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651800" cy="295999"/>
              </a:xfrm>
              <a:custGeom>
                <a:avLst/>
                <a:gdLst/>
                <a:ahLst/>
                <a:cxnLst/>
                <a:rect r="r" b="b" t="t" l="l"/>
                <a:pathLst>
                  <a:path h="295999" w="651800">
                    <a:moveTo>
                      <a:pt x="47511" y="0"/>
                    </a:moveTo>
                    <a:lnTo>
                      <a:pt x="604289" y="0"/>
                    </a:lnTo>
                    <a:cubicBezTo>
                      <a:pt x="616890" y="0"/>
                      <a:pt x="628974" y="5006"/>
                      <a:pt x="637884" y="13916"/>
                    </a:cubicBezTo>
                    <a:cubicBezTo>
                      <a:pt x="646795" y="22826"/>
                      <a:pt x="651800" y="34910"/>
                      <a:pt x="651800" y="47511"/>
                    </a:cubicBezTo>
                    <a:lnTo>
                      <a:pt x="651800" y="248488"/>
                    </a:lnTo>
                    <a:cubicBezTo>
                      <a:pt x="651800" y="261089"/>
                      <a:pt x="646795" y="273173"/>
                      <a:pt x="637884" y="282083"/>
                    </a:cubicBezTo>
                    <a:cubicBezTo>
                      <a:pt x="628974" y="290993"/>
                      <a:pt x="616890" y="295999"/>
                      <a:pt x="604289" y="295999"/>
                    </a:cubicBezTo>
                    <a:lnTo>
                      <a:pt x="47511" y="295999"/>
                    </a:lnTo>
                    <a:cubicBezTo>
                      <a:pt x="21271" y="295999"/>
                      <a:pt x="0" y="274728"/>
                      <a:pt x="0" y="248488"/>
                    </a:cubicBezTo>
                    <a:lnTo>
                      <a:pt x="0" y="47511"/>
                    </a:lnTo>
                    <a:cubicBezTo>
                      <a:pt x="0" y="34910"/>
                      <a:pt x="5006" y="22826"/>
                      <a:pt x="13916" y="13916"/>
                    </a:cubicBezTo>
                    <a:cubicBezTo>
                      <a:pt x="22826" y="5006"/>
                      <a:pt x="34910" y="0"/>
                      <a:pt x="47511" y="0"/>
                    </a:cubicBezTo>
                    <a:close/>
                  </a:path>
                </a:pathLst>
              </a:custGeom>
              <a:solidFill>
                <a:srgbClr val="4F8990"/>
              </a:solid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47625"/>
                <a:ext cx="651800" cy="3436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87" id="87"/>
            <p:cNvSpPr txBox="true"/>
            <p:nvPr/>
          </p:nvSpPr>
          <p:spPr>
            <a:xfrm rot="0">
              <a:off x="279840" y="1336171"/>
              <a:ext cx="1810241" cy="523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2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Ingestion &amp; Clustering </a:t>
              </a:r>
            </a:p>
          </p:txBody>
        </p:sp>
        <p:sp>
          <p:nvSpPr>
            <p:cNvPr name="Freeform 88" id="88"/>
            <p:cNvSpPr/>
            <p:nvPr/>
          </p:nvSpPr>
          <p:spPr>
            <a:xfrm flipH="false" flipV="false" rot="0">
              <a:off x="743227" y="3285395"/>
              <a:ext cx="845649" cy="818370"/>
            </a:xfrm>
            <a:custGeom>
              <a:avLst/>
              <a:gdLst/>
              <a:ahLst/>
              <a:cxnLst/>
              <a:rect r="r" b="b" t="t" l="l"/>
              <a:pathLst>
                <a:path h="818370" w="845649">
                  <a:moveTo>
                    <a:pt x="0" y="0"/>
                  </a:moveTo>
                  <a:lnTo>
                    <a:pt x="845649" y="0"/>
                  </a:lnTo>
                  <a:lnTo>
                    <a:pt x="845649" y="818370"/>
                  </a:lnTo>
                  <a:lnTo>
                    <a:pt x="0" y="818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65538" t="-23234" r="-87494" b="-83822"/>
              </a:stretch>
            </a:blipFill>
          </p:spPr>
        </p:sp>
        <p:grpSp>
          <p:nvGrpSpPr>
            <p:cNvPr name="Group 89" id="89"/>
            <p:cNvGrpSpPr/>
            <p:nvPr/>
          </p:nvGrpSpPr>
          <p:grpSpPr>
            <a:xfrm rot="0">
              <a:off x="10853217" y="1150454"/>
              <a:ext cx="1965258" cy="4269882"/>
              <a:chOff x="0" y="0"/>
              <a:chExt cx="420987" cy="914672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420987" cy="914672"/>
              </a:xfrm>
              <a:custGeom>
                <a:avLst/>
                <a:gdLst/>
                <a:ahLst/>
                <a:cxnLst/>
                <a:rect r="r" b="b" t="t" l="l"/>
                <a:pathLst>
                  <a:path h="914672" w="420987">
                    <a:moveTo>
                      <a:pt x="47273" y="0"/>
                    </a:moveTo>
                    <a:lnTo>
                      <a:pt x="373714" y="0"/>
                    </a:lnTo>
                    <a:cubicBezTo>
                      <a:pt x="386252" y="0"/>
                      <a:pt x="398276" y="4981"/>
                      <a:pt x="407141" y="13846"/>
                    </a:cubicBezTo>
                    <a:cubicBezTo>
                      <a:pt x="416007" y="22711"/>
                      <a:pt x="420987" y="34735"/>
                      <a:pt x="420987" y="47273"/>
                    </a:cubicBezTo>
                    <a:lnTo>
                      <a:pt x="420987" y="867399"/>
                    </a:lnTo>
                    <a:cubicBezTo>
                      <a:pt x="420987" y="893507"/>
                      <a:pt x="399822" y="914672"/>
                      <a:pt x="373714" y="914672"/>
                    </a:cubicBezTo>
                    <a:lnTo>
                      <a:pt x="47273" y="914672"/>
                    </a:lnTo>
                    <a:cubicBezTo>
                      <a:pt x="34735" y="914672"/>
                      <a:pt x="22711" y="909691"/>
                      <a:pt x="13846" y="900826"/>
                    </a:cubicBezTo>
                    <a:cubicBezTo>
                      <a:pt x="4981" y="891960"/>
                      <a:pt x="0" y="879936"/>
                      <a:pt x="0" y="867399"/>
                    </a:cubicBezTo>
                    <a:lnTo>
                      <a:pt x="0" y="47273"/>
                    </a:lnTo>
                    <a:cubicBezTo>
                      <a:pt x="0" y="21165"/>
                      <a:pt x="21165" y="0"/>
                      <a:pt x="472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8990"/>
                </a:solidFill>
                <a:prstDash val="solid"/>
                <a:miter/>
              </a:ln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38100"/>
                <a:ext cx="420987" cy="9527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92" id="92"/>
            <p:cNvGrpSpPr/>
            <p:nvPr/>
          </p:nvGrpSpPr>
          <p:grpSpPr>
            <a:xfrm rot="0">
              <a:off x="10863075" y="1175843"/>
              <a:ext cx="1955400" cy="887997"/>
              <a:chOff x="0" y="0"/>
              <a:chExt cx="651800" cy="295999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651800" cy="295999"/>
              </a:xfrm>
              <a:custGeom>
                <a:avLst/>
                <a:gdLst/>
                <a:ahLst/>
                <a:cxnLst/>
                <a:rect r="r" b="b" t="t" l="l"/>
                <a:pathLst>
                  <a:path h="295999" w="651800">
                    <a:moveTo>
                      <a:pt x="47511" y="0"/>
                    </a:moveTo>
                    <a:lnTo>
                      <a:pt x="604289" y="0"/>
                    </a:lnTo>
                    <a:cubicBezTo>
                      <a:pt x="616890" y="0"/>
                      <a:pt x="628974" y="5006"/>
                      <a:pt x="637884" y="13916"/>
                    </a:cubicBezTo>
                    <a:cubicBezTo>
                      <a:pt x="646795" y="22826"/>
                      <a:pt x="651800" y="34910"/>
                      <a:pt x="651800" y="47511"/>
                    </a:cubicBezTo>
                    <a:lnTo>
                      <a:pt x="651800" y="248488"/>
                    </a:lnTo>
                    <a:cubicBezTo>
                      <a:pt x="651800" y="261089"/>
                      <a:pt x="646795" y="273173"/>
                      <a:pt x="637884" y="282083"/>
                    </a:cubicBezTo>
                    <a:cubicBezTo>
                      <a:pt x="628974" y="290993"/>
                      <a:pt x="616890" y="295999"/>
                      <a:pt x="604289" y="295999"/>
                    </a:cubicBezTo>
                    <a:lnTo>
                      <a:pt x="47511" y="295999"/>
                    </a:lnTo>
                    <a:cubicBezTo>
                      <a:pt x="21271" y="295999"/>
                      <a:pt x="0" y="274728"/>
                      <a:pt x="0" y="248488"/>
                    </a:cubicBezTo>
                    <a:lnTo>
                      <a:pt x="0" y="47511"/>
                    </a:lnTo>
                    <a:cubicBezTo>
                      <a:pt x="0" y="34910"/>
                      <a:pt x="5006" y="22826"/>
                      <a:pt x="13916" y="13916"/>
                    </a:cubicBezTo>
                    <a:cubicBezTo>
                      <a:pt x="22826" y="5006"/>
                      <a:pt x="34910" y="0"/>
                      <a:pt x="47511" y="0"/>
                    </a:cubicBezTo>
                    <a:close/>
                  </a:path>
                </a:pathLst>
              </a:custGeom>
              <a:solidFill>
                <a:srgbClr val="4F8990"/>
              </a:solid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47625"/>
                <a:ext cx="651800" cy="3436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95" id="95"/>
            <p:cNvSpPr txBox="true"/>
            <p:nvPr/>
          </p:nvSpPr>
          <p:spPr>
            <a:xfrm rot="0">
              <a:off x="11189172" y="1347142"/>
              <a:ext cx="1436560" cy="523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Management API</a:t>
              </a:r>
            </a:p>
          </p:txBody>
        </p:sp>
        <p:sp>
          <p:nvSpPr>
            <p:cNvPr name="Freeform 96" id="96"/>
            <p:cNvSpPr/>
            <p:nvPr/>
          </p:nvSpPr>
          <p:spPr>
            <a:xfrm flipH="false" flipV="false" rot="0">
              <a:off x="7201603" y="3255699"/>
              <a:ext cx="666117" cy="848066"/>
            </a:xfrm>
            <a:custGeom>
              <a:avLst/>
              <a:gdLst/>
              <a:ahLst/>
              <a:cxnLst/>
              <a:rect r="r" b="b" t="t" l="l"/>
              <a:pathLst>
                <a:path h="848066" w="666117">
                  <a:moveTo>
                    <a:pt x="0" y="0"/>
                  </a:moveTo>
                  <a:lnTo>
                    <a:pt x="666118" y="0"/>
                  </a:lnTo>
                  <a:lnTo>
                    <a:pt x="666118" y="848066"/>
                  </a:lnTo>
                  <a:lnTo>
                    <a:pt x="0" y="848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9264586" y="3324187"/>
              <a:ext cx="826632" cy="688359"/>
            </a:xfrm>
            <a:custGeom>
              <a:avLst/>
              <a:gdLst/>
              <a:ahLst/>
              <a:cxnLst/>
              <a:rect r="r" b="b" t="t" l="l"/>
              <a:pathLst>
                <a:path h="688359" w="826632">
                  <a:moveTo>
                    <a:pt x="0" y="0"/>
                  </a:moveTo>
                  <a:lnTo>
                    <a:pt x="826631" y="0"/>
                  </a:lnTo>
                  <a:lnTo>
                    <a:pt x="826631" y="688359"/>
                  </a:lnTo>
                  <a:lnTo>
                    <a:pt x="0" y="688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11485633" y="3213129"/>
              <a:ext cx="750404" cy="750404"/>
            </a:xfrm>
            <a:custGeom>
              <a:avLst/>
              <a:gdLst/>
              <a:ahLst/>
              <a:cxnLst/>
              <a:rect r="r" b="b" t="t" l="l"/>
              <a:pathLst>
                <a:path h="750404" w="750404">
                  <a:moveTo>
                    <a:pt x="0" y="0"/>
                  </a:moveTo>
                  <a:lnTo>
                    <a:pt x="750403" y="0"/>
                  </a:lnTo>
                  <a:lnTo>
                    <a:pt x="750403" y="750404"/>
                  </a:lnTo>
                  <a:lnTo>
                    <a:pt x="0" y="750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9" id="99"/>
            <p:cNvSpPr/>
            <p:nvPr/>
          </p:nvSpPr>
          <p:spPr>
            <a:xfrm flipH="false" flipV="false" rot="-5400000">
              <a:off x="2068892" y="3362890"/>
              <a:ext cx="478999" cy="633292"/>
            </a:xfrm>
            <a:custGeom>
              <a:avLst/>
              <a:gdLst/>
              <a:ahLst/>
              <a:cxnLst/>
              <a:rect r="r" b="b" t="t" l="l"/>
              <a:pathLst>
                <a:path h="633292" w="478999">
                  <a:moveTo>
                    <a:pt x="0" y="0"/>
                  </a:moveTo>
                  <a:lnTo>
                    <a:pt x="478999" y="0"/>
                  </a:lnTo>
                  <a:lnTo>
                    <a:pt x="478999" y="633292"/>
                  </a:lnTo>
                  <a:lnTo>
                    <a:pt x="0" y="633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 rot="0">
              <a:off x="260931" y="2085302"/>
              <a:ext cx="1810241" cy="1057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Supports CSV, Net CDF, FASTA, raw images; validation pipelines</a:t>
              </a:r>
            </a:p>
          </p:txBody>
        </p:sp>
        <p:sp>
          <p:nvSpPr>
            <p:cNvPr name="TextBox 101" id="101"/>
            <p:cNvSpPr txBox="true"/>
            <p:nvPr/>
          </p:nvSpPr>
          <p:spPr>
            <a:xfrm rot="0">
              <a:off x="278740" y="4362439"/>
              <a:ext cx="1889952" cy="790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 (FastAPI, Flask), Apache Kafka</a:t>
              </a:r>
            </a:p>
          </p:txBody>
        </p:sp>
        <p:sp>
          <p:nvSpPr>
            <p:cNvPr name="TextBox 102" id="102"/>
            <p:cNvSpPr txBox="true"/>
            <p:nvPr/>
          </p:nvSpPr>
          <p:spPr>
            <a:xfrm rot="0">
              <a:off x="2422565" y="2053149"/>
              <a:ext cx="1870962" cy="1043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Global standards—Darwin Core, CF conventions,custom tagging scripts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2448468" y="4362439"/>
              <a:ext cx="1870962" cy="780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Python, pyDarwinCore, JSON Schema, </a:t>
              </a:r>
            </a:p>
          </p:txBody>
        </p:sp>
        <p:sp>
          <p:nvSpPr>
            <p:cNvPr name="TextBox 104" id="104"/>
            <p:cNvSpPr txBox="true"/>
            <p:nvPr/>
          </p:nvSpPr>
          <p:spPr>
            <a:xfrm rot="0">
              <a:off x="4588960" y="2099019"/>
              <a:ext cx="1758913" cy="1043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Transform &amp; unify datasets; knowledge-base reference</a:t>
              </a:r>
            </a:p>
          </p:txBody>
        </p:sp>
        <p:sp>
          <p:nvSpPr>
            <p:cNvPr name="TextBox 105" id="105"/>
            <p:cNvSpPr txBox="true"/>
            <p:nvPr/>
          </p:nvSpPr>
          <p:spPr>
            <a:xfrm rot="0">
              <a:off x="4558006" y="4362439"/>
              <a:ext cx="1878873" cy="780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Apache Spark,  PostgreSQL, ETL tools</a:t>
              </a:r>
            </a:p>
          </p:txBody>
        </p:sp>
        <p:sp>
          <p:nvSpPr>
            <p:cNvPr name="TextBox 106" id="106"/>
            <p:cNvSpPr txBox="true"/>
            <p:nvPr/>
          </p:nvSpPr>
          <p:spPr>
            <a:xfrm rot="0">
              <a:off x="6731536" y="2126614"/>
              <a:ext cx="1864323" cy="780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AI/ML analytics, geo/time-series queries</a:t>
              </a:r>
            </a:p>
          </p:txBody>
        </p:sp>
        <p:sp>
          <p:nvSpPr>
            <p:cNvPr name="TextBox 107" id="107"/>
            <p:cNvSpPr txBox="true"/>
            <p:nvPr/>
          </p:nvSpPr>
          <p:spPr>
            <a:xfrm rot="0">
              <a:off x="6731703" y="4325932"/>
              <a:ext cx="1822487" cy="1043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 (scikit-learn, TensorFlow), PostGIS, REST endpoints</a:t>
              </a:r>
            </a:p>
          </p:txBody>
        </p:sp>
        <p:sp>
          <p:nvSpPr>
            <p:cNvPr name="TextBox 108" id="108"/>
            <p:cNvSpPr txBox="true"/>
            <p:nvPr/>
          </p:nvSpPr>
          <p:spPr>
            <a:xfrm rot="0">
              <a:off x="8862560" y="2126614"/>
              <a:ext cx="1835673" cy="780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Dashboards, visualization, role-based access</a:t>
              </a:r>
            </a:p>
          </p:txBody>
        </p:sp>
        <p:sp>
          <p:nvSpPr>
            <p:cNvPr name="TextBox 109" id="109"/>
            <p:cNvSpPr txBox="true"/>
            <p:nvPr/>
          </p:nvSpPr>
          <p:spPr>
            <a:xfrm rot="0">
              <a:off x="8794825" y="4325932"/>
              <a:ext cx="1941508" cy="780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React, D3.js, Plotly, Grafana, REST APIs, OAuth2</a:t>
              </a:r>
            </a:p>
          </p:txBody>
        </p:sp>
        <p:sp>
          <p:nvSpPr>
            <p:cNvPr name="TextBox 110" id="110"/>
            <p:cNvSpPr txBox="true"/>
            <p:nvPr/>
          </p:nvSpPr>
          <p:spPr>
            <a:xfrm rot="0">
              <a:off x="10952233" y="2126614"/>
              <a:ext cx="1795660" cy="780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Scaling, monitoring, cloud cost management</a:t>
              </a:r>
            </a:p>
          </p:txBody>
        </p:sp>
        <p:sp>
          <p:nvSpPr>
            <p:cNvPr name="TextBox 111" id="111"/>
            <p:cNvSpPr txBox="true"/>
            <p:nvPr/>
          </p:nvSpPr>
          <p:spPr>
            <a:xfrm rot="0">
              <a:off x="10964933" y="4325932"/>
              <a:ext cx="1904342" cy="780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83"/>
                </a:lnSpc>
                <a:spcBef>
                  <a:spcPct val="0"/>
                </a:spcBef>
              </a:pPr>
              <a:r>
                <a:rPr lang="en-US" b="true" sz="113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AWS/GCP, Prometheus, Grafana</a:t>
              </a:r>
            </a:p>
          </p:txBody>
        </p:sp>
        <p:sp>
          <p:nvSpPr>
            <p:cNvPr name="Freeform 112" id="112"/>
            <p:cNvSpPr/>
            <p:nvPr/>
          </p:nvSpPr>
          <p:spPr>
            <a:xfrm flipH="false" flipV="false" rot="-5400000">
              <a:off x="4193377" y="3351721"/>
              <a:ext cx="478999" cy="633292"/>
            </a:xfrm>
            <a:custGeom>
              <a:avLst/>
              <a:gdLst/>
              <a:ahLst/>
              <a:cxnLst/>
              <a:rect r="r" b="b" t="t" l="l"/>
              <a:pathLst>
                <a:path h="633292" w="478999">
                  <a:moveTo>
                    <a:pt x="0" y="0"/>
                  </a:moveTo>
                  <a:lnTo>
                    <a:pt x="478999" y="0"/>
                  </a:lnTo>
                  <a:lnTo>
                    <a:pt x="478999" y="633291"/>
                  </a:lnTo>
                  <a:lnTo>
                    <a:pt x="0" y="633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3" id="113"/>
            <p:cNvSpPr/>
            <p:nvPr/>
          </p:nvSpPr>
          <p:spPr>
            <a:xfrm flipH="false" flipV="false" rot="-5400000">
              <a:off x="6352450" y="3351721"/>
              <a:ext cx="478999" cy="633292"/>
            </a:xfrm>
            <a:custGeom>
              <a:avLst/>
              <a:gdLst/>
              <a:ahLst/>
              <a:cxnLst/>
              <a:rect r="r" b="b" t="t" l="l"/>
              <a:pathLst>
                <a:path h="633292" w="478999">
                  <a:moveTo>
                    <a:pt x="0" y="0"/>
                  </a:moveTo>
                  <a:lnTo>
                    <a:pt x="478999" y="0"/>
                  </a:lnTo>
                  <a:lnTo>
                    <a:pt x="478999" y="633291"/>
                  </a:lnTo>
                  <a:lnTo>
                    <a:pt x="0" y="633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4" id="114"/>
            <p:cNvSpPr/>
            <p:nvPr/>
          </p:nvSpPr>
          <p:spPr>
            <a:xfrm flipH="false" flipV="false" rot="-5400000">
              <a:off x="8496060" y="3351721"/>
              <a:ext cx="478999" cy="633292"/>
            </a:xfrm>
            <a:custGeom>
              <a:avLst/>
              <a:gdLst/>
              <a:ahLst/>
              <a:cxnLst/>
              <a:rect r="r" b="b" t="t" l="l"/>
              <a:pathLst>
                <a:path h="633292" w="478999">
                  <a:moveTo>
                    <a:pt x="0" y="0"/>
                  </a:moveTo>
                  <a:lnTo>
                    <a:pt x="478999" y="0"/>
                  </a:lnTo>
                  <a:lnTo>
                    <a:pt x="478999" y="633291"/>
                  </a:lnTo>
                  <a:lnTo>
                    <a:pt x="0" y="633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5" id="115"/>
            <p:cNvSpPr/>
            <p:nvPr/>
          </p:nvSpPr>
          <p:spPr>
            <a:xfrm flipH="false" flipV="false" rot="-5400000">
              <a:off x="10625564" y="3351721"/>
              <a:ext cx="478999" cy="633292"/>
            </a:xfrm>
            <a:custGeom>
              <a:avLst/>
              <a:gdLst/>
              <a:ahLst/>
              <a:cxnLst/>
              <a:rect r="r" b="b" t="t" l="l"/>
              <a:pathLst>
                <a:path h="633292" w="478999">
                  <a:moveTo>
                    <a:pt x="0" y="0"/>
                  </a:moveTo>
                  <a:lnTo>
                    <a:pt x="478999" y="0"/>
                  </a:lnTo>
                  <a:lnTo>
                    <a:pt x="478999" y="633291"/>
                  </a:lnTo>
                  <a:lnTo>
                    <a:pt x="0" y="633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 rot="0">
              <a:off x="3534950" y="219368"/>
              <a:ext cx="5823353" cy="58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b="true" sz="26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API </a:t>
              </a:r>
              <a:r>
                <a:rPr lang="en-US" b="true" sz="26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WORKFLOW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25000"/>
            <a:ext cx="18287999" cy="754856"/>
            <a:chOff x="0" y="0"/>
            <a:chExt cx="24383999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25000"/>
            <a:ext cx="4267200" cy="561976"/>
            <a:chOff x="0" y="0"/>
            <a:chExt cx="5689600" cy="7493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25000"/>
            <a:ext cx="4806000" cy="561976"/>
            <a:chOff x="0" y="0"/>
            <a:chExt cx="6408000" cy="7493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49301"/>
            </a:xfrm>
            <a:custGeom>
              <a:avLst/>
              <a:gdLst/>
              <a:ahLst/>
              <a:cxnLst/>
              <a:rect r="r" b="b" t="t" l="l"/>
              <a:pathLst>
                <a:path h="749301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06625" y="0"/>
            <a:ext cx="3313652" cy="1684306"/>
            <a:chOff x="0" y="0"/>
            <a:chExt cx="4418203" cy="2245741"/>
          </a:xfrm>
        </p:grpSpPr>
        <p:sp>
          <p:nvSpPr>
            <p:cNvPr name="Freeform 11" id="11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0"/>
            <a:ext cx="1681830" cy="1681830"/>
          </a:xfrm>
          <a:custGeom>
            <a:avLst/>
            <a:gdLst/>
            <a:ahLst/>
            <a:cxnLst/>
            <a:rect r="r" b="b" t="t" l="l"/>
            <a:pathLst>
              <a:path h="1681830" w="1681830">
                <a:moveTo>
                  <a:pt x="0" y="0"/>
                </a:moveTo>
                <a:lnTo>
                  <a:pt x="1681830" y="0"/>
                </a:lnTo>
                <a:lnTo>
                  <a:pt x="1681830" y="1681830"/>
                </a:lnTo>
                <a:lnTo>
                  <a:pt x="0" y="1681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51468" y="248256"/>
            <a:ext cx="13505937" cy="1495713"/>
            <a:chOff x="0" y="0"/>
            <a:chExt cx="26197794" cy="29012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197793" cy="2901270"/>
            </a:xfrm>
            <a:custGeom>
              <a:avLst/>
              <a:gdLst/>
              <a:ahLst/>
              <a:cxnLst/>
              <a:rect r="r" b="b" t="t" l="l"/>
              <a:pathLst>
                <a:path h="2901270" w="26197793">
                  <a:moveTo>
                    <a:pt x="0" y="0"/>
                  </a:moveTo>
                  <a:lnTo>
                    <a:pt x="26197793" y="0"/>
                  </a:lnTo>
                  <a:lnTo>
                    <a:pt x="26197793" y="2901270"/>
                  </a:lnTo>
                  <a:lnTo>
                    <a:pt x="0" y="2901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6197794" cy="297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b="true" sz="35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SPAARK – UNIFYING MARINE </a:t>
              </a:r>
              <a:r>
                <a:rPr lang="en-US" b="true" sz="35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DATA, POWERING      SUSTAINABLE OCEANS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2105" y="4416662"/>
            <a:ext cx="7692100" cy="4979024"/>
            <a:chOff x="0" y="0"/>
            <a:chExt cx="10256133" cy="663869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256133" cy="6638699"/>
              <a:chOff x="0" y="0"/>
              <a:chExt cx="2426877" cy="15708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426877" cy="1570846"/>
              </a:xfrm>
              <a:custGeom>
                <a:avLst/>
                <a:gdLst/>
                <a:ahLst/>
                <a:cxnLst/>
                <a:rect r="r" b="b" t="t" l="l"/>
                <a:pathLst>
                  <a:path h="1570846" w="2426877">
                    <a:moveTo>
                      <a:pt x="2426877" y="9058"/>
                    </a:moveTo>
                    <a:lnTo>
                      <a:pt x="2426877" y="1561788"/>
                    </a:lnTo>
                    <a:cubicBezTo>
                      <a:pt x="2426877" y="1564190"/>
                      <a:pt x="2425923" y="1566494"/>
                      <a:pt x="2424224" y="1568193"/>
                    </a:cubicBezTo>
                    <a:cubicBezTo>
                      <a:pt x="2422525" y="1569892"/>
                      <a:pt x="2420221" y="1570846"/>
                      <a:pt x="2417819" y="1570846"/>
                    </a:cubicBezTo>
                    <a:lnTo>
                      <a:pt x="9058" y="1570846"/>
                    </a:lnTo>
                    <a:cubicBezTo>
                      <a:pt x="6656" y="1570846"/>
                      <a:pt x="4352" y="1569892"/>
                      <a:pt x="2653" y="1568193"/>
                    </a:cubicBezTo>
                    <a:cubicBezTo>
                      <a:pt x="954" y="1566494"/>
                      <a:pt x="0" y="1564190"/>
                      <a:pt x="0" y="1561788"/>
                    </a:cubicBezTo>
                    <a:lnTo>
                      <a:pt x="0" y="9058"/>
                    </a:lnTo>
                    <a:cubicBezTo>
                      <a:pt x="0" y="6656"/>
                      <a:pt x="954" y="4352"/>
                      <a:pt x="2653" y="2653"/>
                    </a:cubicBezTo>
                    <a:cubicBezTo>
                      <a:pt x="4352" y="954"/>
                      <a:pt x="6656" y="0"/>
                      <a:pt x="9058" y="0"/>
                    </a:cubicBezTo>
                    <a:lnTo>
                      <a:pt x="2417819" y="0"/>
                    </a:lnTo>
                    <a:cubicBezTo>
                      <a:pt x="2422821" y="0"/>
                      <a:pt x="2426877" y="4056"/>
                      <a:pt x="2426877" y="90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426877" cy="1608946"/>
              </a:xfrm>
              <a:prstGeom prst="rect">
                <a:avLst/>
              </a:prstGeom>
            </p:spPr>
            <p:txBody>
              <a:bodyPr anchor="ctr" rtlCol="false" tIns="42407" lIns="42407" bIns="42407" rIns="42407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27455" y="664210"/>
              <a:ext cx="9673121" cy="5901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388620" indent="-194310" lvl="1">
                <a:lnSpc>
                  <a:spcPts val="2970"/>
                </a:lnSpc>
                <a:buAutoNum type="arabicPeriod" startAt="1"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India is home to approximately </a:t>
              </a: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13,000 recorded marine species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just" marL="388620" indent="-194310" lvl="1">
                <a:lnSpc>
                  <a:spcPts val="2970"/>
                </a:lnSpc>
                <a:buAutoNum type="arabicPeriod" startAt="1"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Indian Exclusive Economic Zone (EEZ) covers around</a:t>
              </a: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 2.02 million square kilometres.</a:t>
              </a:r>
            </a:p>
            <a:p>
              <a:pPr algn="just" marL="388620" indent="-194310" lvl="1">
                <a:lnSpc>
                  <a:spcPts val="2970"/>
                </a:lnSpc>
                <a:buAutoNum type="arabicPeriod" startAt="1"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rapid survey by CMFRI recorded </a:t>
              </a: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468 marine species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 just off the </a:t>
              </a: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Kerala coast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just" marL="388620" indent="-194310" lvl="1">
                <a:lnSpc>
                  <a:spcPts val="2970"/>
                </a:lnSpc>
                <a:buAutoNum type="arabicPeriod" startAt="1"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OBIS (Ocean Biodiversity Information System – India Node) currently holds around:</a:t>
              </a:r>
            </a:p>
            <a:p>
              <a:pPr algn="just" marL="388620" indent="-194310" lvl="1">
                <a:lnSpc>
                  <a:spcPts val="2970"/>
                </a:lnSpc>
                <a:buFont typeface="Arial"/>
                <a:buChar char="•"/>
              </a:pPr>
              <a:r>
                <a:rPr lang="en-US" b="true" sz="18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298,585 occurrence records</a:t>
              </a:r>
            </a:p>
            <a:p>
              <a:pPr algn="just" marL="388620" indent="-194310" lvl="1">
                <a:lnSpc>
                  <a:spcPts val="2970"/>
                </a:lnSpc>
                <a:buFont typeface="Arial"/>
                <a:buChar char="•"/>
              </a:pPr>
              <a:r>
                <a:rPr lang="en-US" b="true" sz="18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15,965 marine species</a:t>
              </a:r>
            </a:p>
            <a:p>
              <a:pPr algn="just" marL="388620" indent="-194310" lvl="1">
                <a:lnSpc>
                  <a:spcPts val="2970"/>
                </a:lnSpc>
                <a:buFont typeface="Arial"/>
                <a:buChar char="•"/>
              </a:pPr>
              <a:r>
                <a:rPr lang="en-US" b="true" sz="18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230 datasets</a:t>
              </a:r>
            </a:p>
            <a:p>
              <a:pPr algn="just" marL="388620" indent="-194310" lvl="1">
                <a:lnSpc>
                  <a:spcPts val="2970"/>
                </a:lnSpc>
                <a:buAutoNum type="arabicPeriod" startAt="1"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Nearly </a:t>
              </a: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80%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of marine biodiversity in the Indian Ocean</a:t>
              </a: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remains unclassified or undiscovered.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770035" y="34925"/>
              <a:ext cx="2622523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 u="sng">
                  <a:solidFill>
                    <a:srgbClr val="1E70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STATISTICS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927521" y="1811930"/>
            <a:ext cx="3472867" cy="3794405"/>
            <a:chOff x="0" y="0"/>
            <a:chExt cx="4630489" cy="505920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156244" y="42706"/>
              <a:ext cx="4318000" cy="5016500"/>
              <a:chOff x="0" y="0"/>
              <a:chExt cx="852938" cy="99091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52938" cy="990914"/>
              </a:xfrm>
              <a:custGeom>
                <a:avLst/>
                <a:gdLst/>
                <a:ahLst/>
                <a:cxnLst/>
                <a:rect r="r" b="b" t="t" l="l"/>
                <a:pathLst>
                  <a:path h="990914" w="852938">
                    <a:moveTo>
                      <a:pt x="21515" y="0"/>
                    </a:moveTo>
                    <a:lnTo>
                      <a:pt x="831423" y="0"/>
                    </a:lnTo>
                    <a:cubicBezTo>
                      <a:pt x="843306" y="0"/>
                      <a:pt x="852938" y="9633"/>
                      <a:pt x="852938" y="21515"/>
                    </a:cubicBezTo>
                    <a:lnTo>
                      <a:pt x="852938" y="969398"/>
                    </a:lnTo>
                    <a:cubicBezTo>
                      <a:pt x="852938" y="981281"/>
                      <a:pt x="843306" y="990914"/>
                      <a:pt x="831423" y="990914"/>
                    </a:cubicBezTo>
                    <a:lnTo>
                      <a:pt x="21515" y="990914"/>
                    </a:lnTo>
                    <a:cubicBezTo>
                      <a:pt x="9633" y="990914"/>
                      <a:pt x="0" y="981281"/>
                      <a:pt x="0" y="969398"/>
                    </a:cubicBezTo>
                    <a:lnTo>
                      <a:pt x="0" y="21515"/>
                    </a:lnTo>
                    <a:cubicBezTo>
                      <a:pt x="0" y="9633"/>
                      <a:pt x="9633" y="0"/>
                      <a:pt x="215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852938" cy="10480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4630489" cy="1289770"/>
              <a:chOff x="0" y="0"/>
              <a:chExt cx="6026120" cy="167850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026120" cy="1678507"/>
              </a:xfrm>
              <a:custGeom>
                <a:avLst/>
                <a:gdLst/>
                <a:ahLst/>
                <a:cxnLst/>
                <a:rect r="r" b="b" t="t" l="l"/>
                <a:pathLst>
                  <a:path h="1678507" w="6026120">
                    <a:moveTo>
                      <a:pt x="0" y="0"/>
                    </a:moveTo>
                    <a:lnTo>
                      <a:pt x="6026120" y="0"/>
                    </a:lnTo>
                    <a:lnTo>
                      <a:pt x="6026120" y="1678507"/>
                    </a:lnTo>
                    <a:lnTo>
                      <a:pt x="0" y="167850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9525"/>
                <a:ext cx="6026120" cy="168803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 u="sng">
                    <a:solidFill>
                      <a:srgbClr val="1E707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ENVIRONMENTAL BENEFITS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08887" y="1385020"/>
              <a:ext cx="3945520" cy="3348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Reduced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the ecologic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 impacts of p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rojects.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Early detection 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of biodiversity threats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Improved ecosystem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resili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nce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Supports 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climate and conservation goals.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2105" y="1861063"/>
            <a:ext cx="7692100" cy="2498449"/>
            <a:chOff x="0" y="0"/>
            <a:chExt cx="10256133" cy="3331266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0256133" cy="3331266"/>
              <a:chOff x="0" y="0"/>
              <a:chExt cx="2197015" cy="71360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197015" cy="713606"/>
              </a:xfrm>
              <a:custGeom>
                <a:avLst/>
                <a:gdLst/>
                <a:ahLst/>
                <a:cxnLst/>
                <a:rect r="r" b="b" t="t" l="l"/>
                <a:pathLst>
                  <a:path h="713606" w="2197015">
                    <a:moveTo>
                      <a:pt x="9058" y="0"/>
                    </a:moveTo>
                    <a:lnTo>
                      <a:pt x="2187956" y="0"/>
                    </a:lnTo>
                    <a:cubicBezTo>
                      <a:pt x="2192959" y="0"/>
                      <a:pt x="2197015" y="4056"/>
                      <a:pt x="2197015" y="9058"/>
                    </a:cubicBezTo>
                    <a:lnTo>
                      <a:pt x="2197015" y="704548"/>
                    </a:lnTo>
                    <a:cubicBezTo>
                      <a:pt x="2197015" y="706950"/>
                      <a:pt x="2196060" y="709254"/>
                      <a:pt x="2194361" y="710953"/>
                    </a:cubicBezTo>
                    <a:cubicBezTo>
                      <a:pt x="2192663" y="712652"/>
                      <a:pt x="2190359" y="713606"/>
                      <a:pt x="2187956" y="713606"/>
                    </a:cubicBezTo>
                    <a:lnTo>
                      <a:pt x="9058" y="713606"/>
                    </a:lnTo>
                    <a:cubicBezTo>
                      <a:pt x="6656" y="713606"/>
                      <a:pt x="4352" y="712652"/>
                      <a:pt x="2653" y="710953"/>
                    </a:cubicBezTo>
                    <a:cubicBezTo>
                      <a:pt x="954" y="709254"/>
                      <a:pt x="0" y="706950"/>
                      <a:pt x="0" y="704548"/>
                    </a:cubicBezTo>
                    <a:lnTo>
                      <a:pt x="0" y="9058"/>
                    </a:lnTo>
                    <a:cubicBezTo>
                      <a:pt x="0" y="6656"/>
                      <a:pt x="954" y="4352"/>
                      <a:pt x="2653" y="2653"/>
                    </a:cubicBezTo>
                    <a:cubicBezTo>
                      <a:pt x="4352" y="954"/>
                      <a:pt x="6656" y="0"/>
                      <a:pt x="90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2197015" cy="7517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27455" y="33463"/>
              <a:ext cx="10001224" cy="1010174"/>
              <a:chOff x="0" y="0"/>
              <a:chExt cx="10001224" cy="101017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001224" cy="1010174"/>
              </a:xfrm>
              <a:custGeom>
                <a:avLst/>
                <a:gdLst/>
                <a:ahLst/>
                <a:cxnLst/>
                <a:rect r="r" b="b" t="t" l="l"/>
                <a:pathLst>
                  <a:path h="1010174" w="10001224">
                    <a:moveTo>
                      <a:pt x="0" y="0"/>
                    </a:moveTo>
                    <a:lnTo>
                      <a:pt x="10001224" y="0"/>
                    </a:lnTo>
                    <a:lnTo>
                      <a:pt x="10001224" y="1010174"/>
                    </a:lnTo>
                    <a:lnTo>
                      <a:pt x="0" y="101017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9050"/>
                <a:ext cx="10001224" cy="102922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b="true" sz="2700" u="sng">
                    <a:solidFill>
                      <a:srgbClr val="1E707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POTENTIAL IMPACT ON TARGET AUDIENCE</a:t>
                </a: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48633" y="1138887"/>
              <a:ext cx="9451943" cy="1939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388622" indent="-194311" lvl="1">
                <a:lnSpc>
                  <a:spcPts val="2970"/>
                </a:lnSpc>
                <a:buFont typeface="Arial"/>
                <a:buChar char="•"/>
              </a:pP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Real-time</a:t>
              </a:r>
              <a:r>
                <a:rPr lang="en-US" b="true" sz="1800" spc="108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act</a:t>
              </a:r>
              <a:r>
                <a:rPr lang="en-US" b="true" sz="1800" spc="108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ionable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marine data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just" marL="388622" indent="-194311" lvl="1">
                <a:lnSpc>
                  <a:spcPts val="2970"/>
                </a:lnSpc>
                <a:buFont typeface="Arial"/>
                <a:buChar char="•"/>
              </a:pP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Better 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licy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ing d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sion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s.</a:t>
              </a:r>
            </a:p>
            <a:p>
              <a:pPr algn="just" marL="388622" indent="-194311" lvl="1">
                <a:lnSpc>
                  <a:spcPts val="2970"/>
                </a:lnSpc>
                <a:buFont typeface="Arial"/>
                <a:buChar char="•"/>
              </a:pP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Faster, repr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odu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cib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</a:t>
              </a:r>
              <a:r>
                <a:rPr lang="en-US" b="true" sz="1800" spc="108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scientific research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just" marL="388622" indent="-194311" lvl="1">
                <a:lnSpc>
                  <a:spcPts val="2970"/>
                </a:lnSpc>
                <a:buFont typeface="Arial"/>
                <a:buChar char="•"/>
              </a:pP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Improved </a:t>
              </a:r>
              <a:r>
                <a:rPr lang="en-US" b="true" sz="1800" spc="108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cross-institution </a:t>
              </a:r>
              <a:r>
                <a:rPr lang="en-US" sz="1800" spc="10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collaboration.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419438" y="1843960"/>
            <a:ext cx="3293747" cy="3762375"/>
            <a:chOff x="0" y="0"/>
            <a:chExt cx="4391662" cy="50165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73662" y="0"/>
              <a:ext cx="4318000" cy="5016500"/>
              <a:chOff x="0" y="0"/>
              <a:chExt cx="852938" cy="990914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52938" cy="990914"/>
              </a:xfrm>
              <a:custGeom>
                <a:avLst/>
                <a:gdLst/>
                <a:ahLst/>
                <a:cxnLst/>
                <a:rect r="r" b="b" t="t" l="l"/>
                <a:pathLst>
                  <a:path h="990914" w="852938">
                    <a:moveTo>
                      <a:pt x="21515" y="0"/>
                    </a:moveTo>
                    <a:lnTo>
                      <a:pt x="831423" y="0"/>
                    </a:lnTo>
                    <a:cubicBezTo>
                      <a:pt x="843306" y="0"/>
                      <a:pt x="852938" y="9633"/>
                      <a:pt x="852938" y="21515"/>
                    </a:cubicBezTo>
                    <a:lnTo>
                      <a:pt x="852938" y="969398"/>
                    </a:lnTo>
                    <a:cubicBezTo>
                      <a:pt x="852938" y="981281"/>
                      <a:pt x="843306" y="990914"/>
                      <a:pt x="831423" y="990914"/>
                    </a:cubicBezTo>
                    <a:lnTo>
                      <a:pt x="21515" y="990914"/>
                    </a:lnTo>
                    <a:cubicBezTo>
                      <a:pt x="9633" y="990914"/>
                      <a:pt x="0" y="981281"/>
                      <a:pt x="0" y="969398"/>
                    </a:cubicBezTo>
                    <a:lnTo>
                      <a:pt x="0" y="21515"/>
                    </a:lnTo>
                    <a:cubicBezTo>
                      <a:pt x="0" y="9633"/>
                      <a:pt x="9633" y="0"/>
                      <a:pt x="215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852938" cy="10480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99125" y="22804"/>
              <a:ext cx="3667074" cy="775936"/>
              <a:chOff x="0" y="0"/>
              <a:chExt cx="4774084" cy="1010174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774084" cy="1010174"/>
              </a:xfrm>
              <a:custGeom>
                <a:avLst/>
                <a:gdLst/>
                <a:ahLst/>
                <a:cxnLst/>
                <a:rect r="r" b="b" t="t" l="l"/>
                <a:pathLst>
                  <a:path h="1010174" w="4774084">
                    <a:moveTo>
                      <a:pt x="0" y="0"/>
                    </a:moveTo>
                    <a:lnTo>
                      <a:pt x="4774084" y="0"/>
                    </a:lnTo>
                    <a:lnTo>
                      <a:pt x="4774084" y="1010174"/>
                    </a:lnTo>
                    <a:lnTo>
                      <a:pt x="0" y="101017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4774084" cy="10196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 u="sng">
                    <a:solidFill>
                      <a:srgbClr val="1E707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ECONOMIC BENEFITS</a:t>
                </a: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0" y="1050116"/>
              <a:ext cx="3913666" cy="3768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Faster offsh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ore </a:t>
              </a: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renewable deployment.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Lower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research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opera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ional</a:t>
              </a: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costs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Enhanced </a:t>
              </a: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blue-economy 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investm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 </a:t>
              </a: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appeal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Data-driven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resource optimisation.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897100" y="1843960"/>
            <a:ext cx="3246065" cy="3762375"/>
            <a:chOff x="0" y="0"/>
            <a:chExt cx="4328086" cy="50165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10086" y="0"/>
              <a:ext cx="4318000" cy="5016500"/>
              <a:chOff x="0" y="0"/>
              <a:chExt cx="852938" cy="990914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52938" cy="990914"/>
              </a:xfrm>
              <a:custGeom>
                <a:avLst/>
                <a:gdLst/>
                <a:ahLst/>
                <a:cxnLst/>
                <a:rect r="r" b="b" t="t" l="l"/>
                <a:pathLst>
                  <a:path h="990914" w="852938">
                    <a:moveTo>
                      <a:pt x="21515" y="0"/>
                    </a:moveTo>
                    <a:lnTo>
                      <a:pt x="831423" y="0"/>
                    </a:lnTo>
                    <a:cubicBezTo>
                      <a:pt x="843306" y="0"/>
                      <a:pt x="852938" y="9633"/>
                      <a:pt x="852938" y="21515"/>
                    </a:cubicBezTo>
                    <a:lnTo>
                      <a:pt x="852938" y="969398"/>
                    </a:lnTo>
                    <a:cubicBezTo>
                      <a:pt x="852938" y="981281"/>
                      <a:pt x="843306" y="990914"/>
                      <a:pt x="831423" y="990914"/>
                    </a:cubicBezTo>
                    <a:lnTo>
                      <a:pt x="21515" y="990914"/>
                    </a:lnTo>
                    <a:cubicBezTo>
                      <a:pt x="9633" y="990914"/>
                      <a:pt x="0" y="981281"/>
                      <a:pt x="0" y="969398"/>
                    </a:cubicBezTo>
                    <a:lnTo>
                      <a:pt x="0" y="21515"/>
                    </a:lnTo>
                    <a:cubicBezTo>
                      <a:pt x="0" y="9633"/>
                      <a:pt x="9633" y="0"/>
                      <a:pt x="215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852938" cy="10480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90572" y="97092"/>
              <a:ext cx="4157029" cy="772629"/>
              <a:chOff x="0" y="0"/>
              <a:chExt cx="5435112" cy="101017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435112" cy="1010174"/>
              </a:xfrm>
              <a:custGeom>
                <a:avLst/>
                <a:gdLst/>
                <a:ahLst/>
                <a:cxnLst/>
                <a:rect r="r" b="b" t="t" l="l"/>
                <a:pathLst>
                  <a:path h="1010174" w="5435112">
                    <a:moveTo>
                      <a:pt x="0" y="0"/>
                    </a:moveTo>
                    <a:lnTo>
                      <a:pt x="5435112" y="0"/>
                    </a:lnTo>
                    <a:lnTo>
                      <a:pt x="5435112" y="1010174"/>
                    </a:lnTo>
                    <a:lnTo>
                      <a:pt x="0" y="101017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9525"/>
                <a:ext cx="5435112" cy="10196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 u="sng">
                    <a:solidFill>
                      <a:srgbClr val="1E707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SOCIAL BENEFITS</a:t>
                </a: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0" y="1030276"/>
              <a:ext cx="4328086" cy="3807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92775" indent="-196388" lvl="1">
                <a:lnSpc>
                  <a:spcPts val="2546"/>
                </a:lnSpc>
                <a:buFont typeface="Arial"/>
                <a:buChar char="•"/>
              </a:pPr>
              <a:r>
                <a:rPr lang="en-US" b="true" sz="181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Sustai</a:t>
              </a:r>
              <a:r>
                <a:rPr lang="en-US" b="true" sz="181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nable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fish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eries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food security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l" marL="392775" indent="-196388" lvl="1">
                <a:lnSpc>
                  <a:spcPts val="2546"/>
                </a:lnSpc>
                <a:buFont typeface="Arial"/>
                <a:buChar char="•"/>
              </a:pP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Increased</a:t>
              </a:r>
              <a:r>
                <a:rPr lang="en-US" b="true" sz="181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public awareness 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and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ngagem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t.</a:t>
              </a:r>
            </a:p>
            <a:p>
              <a:pPr algn="l" marL="392775" indent="-196388" lvl="1">
                <a:lnSpc>
                  <a:spcPts val="2546"/>
                </a:lnSpc>
                <a:buFont typeface="Arial"/>
                <a:buChar char="•"/>
              </a:pP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Stronger coastal </a:t>
              </a:r>
              <a:r>
                <a:rPr lang="en-US" b="true" sz="181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livelihoods.</a:t>
              </a:r>
            </a:p>
            <a:p>
              <a:pPr algn="l" marL="392775" indent="-196388" lvl="1">
                <a:lnSpc>
                  <a:spcPts val="2546"/>
                </a:lnSpc>
                <a:buFont typeface="Arial"/>
                <a:buChar char="•"/>
              </a:pP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Community-backed </a:t>
              </a:r>
              <a:r>
                <a:rPr lang="en-US" b="true" sz="181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conservation actions</a:t>
              </a:r>
              <a:r>
                <a:rPr lang="en-US" sz="181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721742" y="5768260"/>
            <a:ext cx="6388130" cy="3670800"/>
            <a:chOff x="0" y="0"/>
            <a:chExt cx="2375375" cy="136495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75375" cy="1364957"/>
            </a:xfrm>
            <a:custGeom>
              <a:avLst/>
              <a:gdLst/>
              <a:ahLst/>
              <a:cxnLst/>
              <a:rect r="r" b="b" t="t" l="l"/>
              <a:pathLst>
                <a:path h="1364957" w="2375375">
                  <a:moveTo>
                    <a:pt x="10907" y="0"/>
                  </a:moveTo>
                  <a:lnTo>
                    <a:pt x="2364467" y="0"/>
                  </a:lnTo>
                  <a:cubicBezTo>
                    <a:pt x="2367360" y="0"/>
                    <a:pt x="2370135" y="1149"/>
                    <a:pt x="2372180" y="3195"/>
                  </a:cubicBezTo>
                  <a:cubicBezTo>
                    <a:pt x="2374226" y="5240"/>
                    <a:pt x="2375375" y="8015"/>
                    <a:pt x="2375375" y="10907"/>
                  </a:cubicBezTo>
                  <a:lnTo>
                    <a:pt x="2375375" y="1354050"/>
                  </a:lnTo>
                  <a:cubicBezTo>
                    <a:pt x="2375375" y="1356943"/>
                    <a:pt x="2374226" y="1359717"/>
                    <a:pt x="2372180" y="1361763"/>
                  </a:cubicBezTo>
                  <a:cubicBezTo>
                    <a:pt x="2370135" y="1363808"/>
                    <a:pt x="2367360" y="1364957"/>
                    <a:pt x="2364467" y="1364957"/>
                  </a:cubicBezTo>
                  <a:lnTo>
                    <a:pt x="10907" y="1364957"/>
                  </a:lnTo>
                  <a:cubicBezTo>
                    <a:pt x="8015" y="1364957"/>
                    <a:pt x="5240" y="1363808"/>
                    <a:pt x="3195" y="1361763"/>
                  </a:cubicBezTo>
                  <a:cubicBezTo>
                    <a:pt x="1149" y="1359717"/>
                    <a:pt x="0" y="1356943"/>
                    <a:pt x="0" y="1354050"/>
                  </a:cubicBezTo>
                  <a:lnTo>
                    <a:pt x="0" y="10907"/>
                  </a:lnTo>
                  <a:cubicBezTo>
                    <a:pt x="0" y="8015"/>
                    <a:pt x="1149" y="5240"/>
                    <a:pt x="3195" y="3195"/>
                  </a:cubicBezTo>
                  <a:cubicBezTo>
                    <a:pt x="5240" y="1149"/>
                    <a:pt x="8015" y="0"/>
                    <a:pt x="10907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F8990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375375" cy="1403057"/>
            </a:xfrm>
            <a:prstGeom prst="rect">
              <a:avLst/>
            </a:prstGeom>
          </p:spPr>
          <p:txBody>
            <a:bodyPr anchor="ctr" rtlCol="false" tIns="39021" lIns="39021" bIns="39021" rIns="39021"/>
            <a:lstStyle/>
            <a:p>
              <a:pPr algn="ctr">
                <a:lnSpc>
                  <a:spcPts val="2096"/>
                </a:lnSpc>
              </a:pPr>
            </a:p>
          </p:txBody>
        </p:sp>
      </p:grpSp>
      <p:graphicFrame>
        <p:nvGraphicFramePr>
          <p:cNvPr name="Object 57" id="57"/>
          <p:cNvGraphicFramePr/>
          <p:nvPr/>
        </p:nvGraphicFramePr>
        <p:xfrm>
          <a:off x="11778300" y="5827473"/>
          <a:ext cx="3771900" cy="3771900"/>
        </p:xfrm>
        <a:graphic>
          <a:graphicData uri="http://schemas.openxmlformats.org/presentationml/2006/ole">
            <p:oleObj imgW="4521200" imgH="452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58" id="58"/>
          <p:cNvSpPr/>
          <p:nvPr/>
        </p:nvSpPr>
        <p:spPr>
          <a:xfrm flipH="false" flipV="false" rot="0">
            <a:off x="8093712" y="5768260"/>
            <a:ext cx="3462941" cy="3627427"/>
          </a:xfrm>
          <a:custGeom>
            <a:avLst/>
            <a:gdLst/>
            <a:ahLst/>
            <a:cxnLst/>
            <a:rect r="r" b="b" t="t" l="l"/>
            <a:pathLst>
              <a:path h="3627427" w="3462941">
                <a:moveTo>
                  <a:pt x="0" y="0"/>
                </a:moveTo>
                <a:lnTo>
                  <a:pt x="3462940" y="0"/>
                </a:lnTo>
                <a:lnTo>
                  <a:pt x="3462940" y="3627427"/>
                </a:lnTo>
                <a:lnTo>
                  <a:pt x="0" y="36274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777" t="0" r="-28445" b="0"/>
            </a:stretch>
          </a:blipFill>
          <a:ln w="28575" cap="sq">
            <a:solidFill>
              <a:srgbClr val="1E707A"/>
            </a:solidFill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25000"/>
            <a:ext cx="18287999" cy="754856"/>
            <a:chOff x="0" y="0"/>
            <a:chExt cx="24383999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25000"/>
            <a:ext cx="4267200" cy="561976"/>
            <a:chOff x="0" y="0"/>
            <a:chExt cx="5689600" cy="7493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25000"/>
            <a:ext cx="4806000" cy="561976"/>
            <a:chOff x="0" y="0"/>
            <a:chExt cx="6408000" cy="7493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49301"/>
            </a:xfrm>
            <a:custGeom>
              <a:avLst/>
              <a:gdLst/>
              <a:ahLst/>
              <a:cxnLst/>
              <a:rect r="r" b="b" t="t" l="l"/>
              <a:pathLst>
                <a:path h="749301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06625" y="0"/>
            <a:ext cx="3313652" cy="1684306"/>
            <a:chOff x="0" y="0"/>
            <a:chExt cx="4418203" cy="2245741"/>
          </a:xfrm>
        </p:grpSpPr>
        <p:sp>
          <p:nvSpPr>
            <p:cNvPr name="Freeform 11" id="11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0"/>
            <a:ext cx="1681830" cy="1681830"/>
          </a:xfrm>
          <a:custGeom>
            <a:avLst/>
            <a:gdLst/>
            <a:ahLst/>
            <a:cxnLst/>
            <a:rect r="r" b="b" t="t" l="l"/>
            <a:pathLst>
              <a:path h="1681830" w="1681830">
                <a:moveTo>
                  <a:pt x="0" y="0"/>
                </a:moveTo>
                <a:lnTo>
                  <a:pt x="1681830" y="0"/>
                </a:lnTo>
                <a:lnTo>
                  <a:pt x="1681830" y="1681830"/>
                </a:lnTo>
                <a:lnTo>
                  <a:pt x="0" y="1681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89928" y="1665256"/>
            <a:ext cx="15769372" cy="7593044"/>
            <a:chOff x="0" y="0"/>
            <a:chExt cx="21025830" cy="1012405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276377"/>
              <a:ext cx="21025830" cy="9847682"/>
              <a:chOff x="0" y="0"/>
              <a:chExt cx="4153250" cy="194522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153250" cy="1945221"/>
              </a:xfrm>
              <a:custGeom>
                <a:avLst/>
                <a:gdLst/>
                <a:ahLst/>
                <a:cxnLst/>
                <a:rect r="r" b="b" t="t" l="l"/>
                <a:pathLst>
                  <a:path h="1945221" w="4153250">
                    <a:moveTo>
                      <a:pt x="4419" y="0"/>
                    </a:moveTo>
                    <a:lnTo>
                      <a:pt x="4148832" y="0"/>
                    </a:lnTo>
                    <a:cubicBezTo>
                      <a:pt x="4151272" y="0"/>
                      <a:pt x="4153250" y="1978"/>
                      <a:pt x="4153250" y="4419"/>
                    </a:cubicBezTo>
                    <a:lnTo>
                      <a:pt x="4153250" y="1940803"/>
                    </a:lnTo>
                    <a:cubicBezTo>
                      <a:pt x="4153250" y="1941974"/>
                      <a:pt x="4152785" y="1943098"/>
                      <a:pt x="4151956" y="1943927"/>
                    </a:cubicBezTo>
                    <a:cubicBezTo>
                      <a:pt x="4151128" y="1944756"/>
                      <a:pt x="4150004" y="1945221"/>
                      <a:pt x="4148832" y="1945221"/>
                    </a:cubicBezTo>
                    <a:lnTo>
                      <a:pt x="4419" y="1945221"/>
                    </a:lnTo>
                    <a:cubicBezTo>
                      <a:pt x="1978" y="1945221"/>
                      <a:pt x="0" y="1943243"/>
                      <a:pt x="0" y="1940803"/>
                    </a:cubicBezTo>
                    <a:lnTo>
                      <a:pt x="0" y="4419"/>
                    </a:lnTo>
                    <a:cubicBezTo>
                      <a:pt x="0" y="1978"/>
                      <a:pt x="1978" y="0"/>
                      <a:pt x="44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1E707A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153250" cy="1983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6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6544998" y="0"/>
              <a:ext cx="7937663" cy="1349423"/>
              <a:chOff x="0" y="0"/>
              <a:chExt cx="7937663" cy="134942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937664" cy="1349423"/>
              </a:xfrm>
              <a:custGeom>
                <a:avLst/>
                <a:gdLst/>
                <a:ahLst/>
                <a:cxnLst/>
                <a:rect r="r" b="b" t="t" l="l"/>
                <a:pathLst>
                  <a:path h="1349423" w="7937664">
                    <a:moveTo>
                      <a:pt x="0" y="0"/>
                    </a:moveTo>
                    <a:lnTo>
                      <a:pt x="7937664" y="0"/>
                    </a:lnTo>
                    <a:lnTo>
                      <a:pt x="7937664" y="1349423"/>
                    </a:lnTo>
                    <a:lnTo>
                      <a:pt x="0" y="13494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7937663" cy="13684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b="true" sz="3000" u="sng">
                    <a:solidFill>
                      <a:srgbClr val="1E707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RESEARCH AND REFERENCES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60074" y="1144394"/>
              <a:ext cx="20475256" cy="8865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066" indent="-194033" lvl="1">
                <a:lnSpc>
                  <a:spcPts val="2696"/>
                </a:lnSpc>
                <a:buFont typeface="Arial"/>
                <a:buChar char="•"/>
              </a:pPr>
              <a:r>
                <a:rPr lang="en-US" sz="179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Kühn, B., Cayetano, A., Fincham, J. I., Moustahfid, H., Sokolova, M., Trifonova, N., Watson, J. T., Fernandes-Salvador, J. A., &amp; Uusitalo, L. (2024). Machine learning applications for fisheries—At scales from genomics to ecosystems. Reviews in Fisheries Science &amp; Aquaculture. </a:t>
              </a:r>
              <a:r>
                <a:rPr lang="en-US" sz="1797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4" tooltip="https://doi.org/10.1080/23308249.2024.2423189"/>
                </a:rPr>
                <a:t>https://doi.org/10.1080/23308249.2024.2423189</a:t>
              </a:r>
            </a:p>
            <a:p>
              <a:pPr algn="l">
                <a:lnSpc>
                  <a:spcPts val="2696"/>
                </a:lnSpc>
              </a:pPr>
            </a:p>
            <a:p>
              <a:pPr algn="l" marL="388066" indent="-194033" lvl="1">
                <a:lnSpc>
                  <a:spcPts val="2696"/>
                </a:lnSpc>
                <a:buFont typeface="Arial"/>
                <a:buChar char="•"/>
              </a:pPr>
              <a:r>
                <a:rPr lang="en-US" sz="179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[Anonymous Authors]. (2024). Leveraging deep learning and computer vision technologies to enhance management of coastal fisheries in the Pacific region. Scientific Reports. </a:t>
              </a:r>
              <a:r>
                <a:rPr lang="en-US" sz="1797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5" tooltip="https://pmc.ncbi.nlm.nih.gov/articles/PMC11381547/"/>
                </a:rPr>
                <a:t>https://pmc.ncbi.nlm.nih.gov/articles/PMC11381547/</a:t>
              </a:r>
            </a:p>
            <a:p>
              <a:pPr algn="l">
                <a:lnSpc>
                  <a:spcPts val="2696"/>
                </a:lnSpc>
              </a:pPr>
            </a:p>
            <a:p>
              <a:pPr algn="l" marL="388066" indent="-194033" lvl="1">
                <a:lnSpc>
                  <a:spcPts val="2696"/>
                </a:lnSpc>
                <a:buFont typeface="Arial"/>
                <a:buChar char="•"/>
              </a:pPr>
              <a:r>
                <a:rPr lang="en-US" sz="179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Mwamburi, L., Obura, D., Hume, B., &amp; Tuda, A. (2023). Integration of environmental DNA metabarcoding technique to reinforce fish biodiversity assessments in seagrass ecosystems: A case study of Gazi Bay seagrass meadows. Environmental DNA, 5(3), 571–585. </a:t>
              </a:r>
              <a:r>
                <a:rPr lang="en-US" sz="1797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 tooltip="https://doi.org/10.1002/edn3.483"/>
                </a:rPr>
                <a:t>https://doi.org/10.1002/edn3.483</a:t>
              </a:r>
            </a:p>
            <a:p>
              <a:pPr algn="l">
                <a:lnSpc>
                  <a:spcPts val="2696"/>
                </a:lnSpc>
              </a:pPr>
            </a:p>
            <a:p>
              <a:pPr algn="l" marL="388066" indent="-194033" lvl="1">
                <a:lnSpc>
                  <a:spcPts val="2696"/>
                </a:lnSpc>
                <a:buFont typeface="Arial"/>
                <a:buChar char="•"/>
              </a:pPr>
              <a:r>
                <a:rPr lang="en-US" sz="179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Nash, R. D. M., Dickey-Collas, M., &amp; Kell, L. T. (2022). DeepOtolith v1.0: An open-source AI platform for automating fish age reading from otolith or scale images. Fishes, 7(3), 121. </a:t>
              </a:r>
              <a:r>
                <a:rPr lang="en-US" sz="1797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7" tooltip="https://www.mdpi.com/2410-3888/7/3/121"/>
                </a:rPr>
                <a:t>https://www.mdpi.com/2410-3888/7/3/121</a:t>
              </a:r>
            </a:p>
            <a:p>
              <a:pPr algn="l">
                <a:lnSpc>
                  <a:spcPts val="2696"/>
                </a:lnSpc>
              </a:pPr>
            </a:p>
            <a:p>
              <a:pPr algn="l" marL="388066" indent="-194033" lvl="1">
                <a:lnSpc>
                  <a:spcPts val="2696"/>
                </a:lnSpc>
                <a:buFont typeface="Arial"/>
                <a:buChar char="•"/>
              </a:pPr>
              <a:r>
                <a:rPr lang="en-US" sz="179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Strelkov, A. A., Arkhipkin, A. I., &amp; Balykin, P. A. (2024). Morphological variability of otolith organs in three congeneric Pagellus species. Oceanological and Hydrobiological Studies, 53(1), 88–101. </a:t>
              </a:r>
              <a:r>
                <a:rPr lang="en-US" sz="1797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8" tooltip="https://doi.org/10.26881/oahs-2024.1.10"/>
                </a:rPr>
                <a:t>https://doi.org/10.26881/oahs-2024.1.10</a:t>
              </a:r>
            </a:p>
            <a:p>
              <a:pPr algn="l">
                <a:lnSpc>
                  <a:spcPts val="2696"/>
                </a:lnSpc>
              </a:pPr>
            </a:p>
            <a:p>
              <a:pPr algn="l" marL="388066" indent="-194033" lvl="1">
                <a:lnSpc>
                  <a:spcPts val="2696"/>
                </a:lnSpc>
                <a:buFont typeface="Arial"/>
                <a:buChar char="•"/>
              </a:pPr>
              <a:r>
                <a:rPr lang="en-US" sz="179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Nasreem, N., Muthukumar, K., &amp; Narayanasamy, R. (2025). Unveiling diversity in inhabited and uninhabited reefs of the Lakshadweep Archipelago, India using eDNA. Frontiers in Marine Science, 12, 1592429. </a:t>
              </a:r>
              <a:r>
                <a:rPr lang="en-US" sz="1797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9" tooltip="https://www.frontiersin.org/journals/marine-science/articles/10.3389/fmars.2025.1592429/full"/>
                </a:rPr>
                <a:t>https://www.frontiersin.org/journals/marine-science/articles/10.3389/fmars.2025.1592429/full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51468" y="248256"/>
            <a:ext cx="13505937" cy="1495713"/>
            <a:chOff x="0" y="0"/>
            <a:chExt cx="26197794" cy="29012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197793" cy="2901270"/>
            </a:xfrm>
            <a:custGeom>
              <a:avLst/>
              <a:gdLst/>
              <a:ahLst/>
              <a:cxnLst/>
              <a:rect r="r" b="b" t="t" l="l"/>
              <a:pathLst>
                <a:path h="2901270" w="26197793">
                  <a:moveTo>
                    <a:pt x="0" y="0"/>
                  </a:moveTo>
                  <a:lnTo>
                    <a:pt x="26197793" y="0"/>
                  </a:lnTo>
                  <a:lnTo>
                    <a:pt x="26197793" y="2901270"/>
                  </a:lnTo>
                  <a:lnTo>
                    <a:pt x="0" y="2901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26197794" cy="297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b="true" sz="35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SPAARK – UNIFYING MARINE </a:t>
              </a:r>
              <a:r>
                <a:rPr lang="en-US" b="true" sz="35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DATA, POWERING      SUSTAINABLE OCEANS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DAGzgU6E4wU</dc:identifier>
  <dcterms:modified xsi:type="dcterms:W3CDTF">2011-08-01T06:04:30Z</dcterms:modified>
  <cp:revision>1</cp:revision>
  <dc:title>25041.pptx</dc:title>
</cp:coreProperties>
</file>